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605" r:id="rId3"/>
    <p:sldId id="450" r:id="rId4"/>
    <p:sldId id="606" r:id="rId5"/>
    <p:sldId id="607" r:id="rId6"/>
    <p:sldId id="545" r:id="rId7"/>
    <p:sldId id="608" r:id="rId8"/>
    <p:sldId id="609" r:id="rId9"/>
    <p:sldId id="610" r:id="rId10"/>
    <p:sldId id="611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20" r:id="rId20"/>
    <p:sldId id="621" r:id="rId21"/>
    <p:sldId id="622" r:id="rId22"/>
    <p:sldId id="623" r:id="rId23"/>
    <p:sldId id="624" r:id="rId24"/>
    <p:sldId id="625" r:id="rId25"/>
    <p:sldId id="626" r:id="rId26"/>
    <p:sldId id="604" r:id="rId27"/>
    <p:sldId id="627" r:id="rId28"/>
    <p:sldId id="628" r:id="rId29"/>
    <p:sldId id="603" r:id="rId30"/>
    <p:sldId id="629" r:id="rId31"/>
    <p:sldId id="630" r:id="rId32"/>
    <p:sldId id="631" r:id="rId33"/>
    <p:sldId id="632" r:id="rId34"/>
    <p:sldId id="633" r:id="rId35"/>
    <p:sldId id="634" r:id="rId36"/>
    <p:sldId id="602" r:id="rId37"/>
    <p:sldId id="635" r:id="rId38"/>
    <p:sldId id="636" r:id="rId39"/>
    <p:sldId id="638" r:id="rId40"/>
    <p:sldId id="483" r:id="rId41"/>
    <p:sldId id="637" r:id="rId42"/>
    <p:sldId id="485" r:id="rId43"/>
    <p:sldId id="457" r:id="rId44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B785"/>
    <a:srgbClr val="404040"/>
    <a:srgbClr val="00C77A"/>
    <a:srgbClr val="40D59B"/>
    <a:srgbClr val="E6F6F0"/>
    <a:srgbClr val="DCE5EE"/>
    <a:srgbClr val="FFFFFF"/>
    <a:srgbClr val="5CDBAA"/>
    <a:srgbClr val="A6EBD1"/>
    <a:srgbClr val="A0C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76994"/>
  </p:normalViewPr>
  <p:slideViewPr>
    <p:cSldViewPr snapToGrid="0" showGuides="1">
      <p:cViewPr varScale="1">
        <p:scale>
          <a:sx n="52" d="100"/>
          <a:sy n="52" d="100"/>
        </p:scale>
        <p:origin x="149" y="53"/>
      </p:cViewPr>
      <p:guideLst>
        <p:guide orient="horz" pos="2112"/>
        <p:guide pos="28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898989"/>
                </a:solidFill>
                <a:sym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rgbClr val="89898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2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‹#›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3315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教学指导：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、待修改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、通过演示示例补充说明为什么学习</a:t>
            </a:r>
            <a:r>
              <a:rPr lang="en-US" altLang="zh-CN" dirty="0"/>
              <a:t>JavaScript</a:t>
            </a:r>
            <a:r>
              <a:rPr lang="zh-CN" altLang="en-US" dirty="0"/>
              <a:t>，同时需要告诉学员，使用</a:t>
            </a:r>
            <a:r>
              <a:rPr lang="en-US" altLang="zh-CN" dirty="0"/>
              <a:t>JavaScript</a:t>
            </a:r>
            <a:r>
              <a:rPr lang="zh-CN" altLang="en-US" dirty="0"/>
              <a:t>实现动态效果不如</a:t>
            </a:r>
            <a:r>
              <a:rPr lang="en-US" altLang="zh-CN" dirty="0" err="1"/>
              <a:t>jQuery</a:t>
            </a:r>
            <a:r>
              <a:rPr lang="zh-CN" altLang="en-US" dirty="0"/>
              <a:t>简洁方便，</a:t>
            </a:r>
            <a:r>
              <a:rPr lang="en-US" altLang="zh-CN" dirty="0"/>
              <a:t>JavaScript</a:t>
            </a:r>
            <a:r>
              <a:rPr lang="zh-CN" altLang="en-US" dirty="0"/>
              <a:t>是学习</a:t>
            </a:r>
            <a:r>
              <a:rPr lang="en-US" altLang="zh-CN" dirty="0" err="1"/>
              <a:t>jQuery</a:t>
            </a:r>
            <a:r>
              <a:rPr lang="zh-CN" altLang="en-US" dirty="0"/>
              <a:t>的基础。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、演示例子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64CE7F-F03A-41BF-99D7-A8D14254429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20000"/>
              </a:spcBef>
              <a:buClr>
                <a:srgbClr val="0E9CDE"/>
              </a:buClr>
              <a:buSzPct val="100000"/>
              <a:buFont typeface="Wingdings" pitchFamily="2" charset="2"/>
              <a:buChar char="n"/>
            </a:pPr>
            <a:endParaRPr lang="en-US" altLang="zh-CN" sz="1200" b="1" dirty="0">
              <a:ea typeface="微软雅黑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882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教学指导：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xxxxxxx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494AB7-8625-4824-800A-BD39FB2F59E6}" type="slidenum">
              <a:rPr lang="zh-CN" altLang="en-US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教学指导：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xxxxxxx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494AB7-8625-4824-800A-BD39FB2F59E6}" type="slidenum">
              <a:rPr lang="zh-CN" altLang="en-US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教学指导：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xxxxxxx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494AB7-8625-4824-800A-BD39FB2F59E6}" type="slidenum">
              <a:rPr lang="zh-CN" altLang="en-US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教学指导：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xxxxxxx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494AB7-8625-4824-800A-BD39FB2F59E6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638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扫码进</a:t>
            </a:r>
            <a:r>
              <a:rPr lang="en-US" altLang="zh-CN" dirty="0"/>
              <a:t>QQ</a:t>
            </a:r>
            <a:r>
              <a:rPr lang="zh-CN" altLang="en-US" dirty="0"/>
              <a:t>群的二维码一般不需要在各个产品</a:t>
            </a:r>
            <a:r>
              <a:rPr lang="en-US" altLang="zh-CN" dirty="0"/>
              <a:t>PPT</a:t>
            </a:r>
            <a:r>
              <a:rPr lang="zh-CN" altLang="en-US" dirty="0"/>
              <a:t>中体现，</a:t>
            </a:r>
            <a:endParaRPr lang="en-US" altLang="zh-CN" dirty="0"/>
          </a:p>
          <a:p>
            <a:pPr lvl="0"/>
            <a:r>
              <a:rPr lang="zh-CN" altLang="en-US" dirty="0"/>
              <a:t>一般出现在直播课或其他类型的课程中，根据实际情况决定是否需要此二维码。</a:t>
            </a:r>
            <a:endParaRPr lang="en-US" altLang="zh-CN" dirty="0"/>
          </a:p>
          <a:p>
            <a:pPr lvl="0"/>
            <a:r>
              <a:rPr lang="zh-CN" altLang="en-US" dirty="0"/>
              <a:t>注意此二维码根据要进去的</a:t>
            </a:r>
            <a:r>
              <a:rPr lang="en-US" altLang="zh-CN" dirty="0"/>
              <a:t>QQ</a:t>
            </a:r>
            <a:r>
              <a:rPr lang="zh-CN" altLang="en-US" dirty="0"/>
              <a:t>群，二维码各不相同，请使用者自行制作添加。</a:t>
            </a: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43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>
            <p:ph type="ctrTitle"/>
          </p:nvPr>
        </p:nvSpPr>
        <p:spPr>
          <a:xfrm>
            <a:off x="914401" y="1566853"/>
            <a:ext cx="10363200" cy="1782571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normAutofit/>
          </a:bodyPr>
          <a:lstStyle>
            <a:lvl1pPr lvl="0" algn="ctr">
              <a:defRPr sz="6135" b="1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2052" name="副标题 2"/>
          <p:cNvSpPr>
            <a:spLocks noGrp="1"/>
          </p:cNvSpPr>
          <p:nvPr>
            <p:ph type="subTitle" idx="1"/>
          </p:nvPr>
        </p:nvSpPr>
        <p:spPr>
          <a:xfrm>
            <a:off x="1828800" y="3373442"/>
            <a:ext cx="8534401" cy="63754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normAutofit/>
          </a:bodyPr>
          <a:lstStyle>
            <a:lvl1pPr marL="0" marR="0" lvl="0" indent="0" algn="ctr" defTabSz="121856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SzTx/>
              <a:buFont typeface="Wingdings" panose="05000000000000000000" pitchFamily="2" charset="2"/>
              <a:buNone/>
              <a:defRPr sz="2645" b="1" kern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lvl="1" indent="609600" algn="l">
              <a:buNone/>
              <a:defRPr sz="3175" kern="1200">
                <a:solidFill>
                  <a:schemeClr val="tx1"/>
                </a:solidFill>
              </a:defRPr>
            </a:lvl2pPr>
            <a:lvl3pPr marL="0" lvl="2" indent="609600" algn="l">
              <a:buNone/>
              <a:defRPr sz="3175" kern="1200">
                <a:solidFill>
                  <a:schemeClr val="tx1"/>
                </a:solidFill>
              </a:defRPr>
            </a:lvl3pPr>
            <a:lvl4pPr marL="0" lvl="3" indent="609600" algn="l">
              <a:buNone/>
              <a:defRPr sz="3175" kern="1200">
                <a:solidFill>
                  <a:schemeClr val="tx1"/>
                </a:solidFill>
              </a:defRPr>
            </a:lvl4pPr>
            <a:lvl5pPr marL="0" lvl="4" indent="609600" algn="l">
              <a:buNone/>
              <a:defRPr sz="3175" kern="12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  <a:p>
            <a:pPr lvl="0"/>
            <a:endParaRPr lang="zh-CN" altLang="en-US" noProof="1"/>
          </a:p>
        </p:txBody>
      </p:sp>
      <p:pic>
        <p:nvPicPr>
          <p:cNvPr id="2" name="图片 1" descr="封面-B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4935" y="-20955"/>
            <a:ext cx="12232640" cy="6880225"/>
          </a:xfrm>
          <a:prstGeom prst="rect">
            <a:avLst/>
          </a:prstGeom>
        </p:spPr>
      </p:pic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E:\设计\06-2018\前端5.0PPT\目录-bg.png目录-b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0160" y="-11747"/>
            <a:ext cx="12212955" cy="68694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7480" y="2590800"/>
            <a:ext cx="1341120" cy="1143000"/>
          </a:xfrm>
        </p:spPr>
        <p:txBody>
          <a:bodyPr/>
          <a:lstStyle>
            <a:lvl1pPr>
              <a:defRPr sz="3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074" name="图片 5" descr="C:\Users\xuejie.yu\AppData\Local\Temp\WeChat Files\3a2b4010043f5c844d38aa2b9f5f63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12163" y="6076950"/>
            <a:ext cx="3779837" cy="781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内页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9220" y="0"/>
            <a:ext cx="12192000" cy="6857365"/>
          </a:xfrm>
          <a:prstGeom prst="rect">
            <a:avLst/>
          </a:prstGeom>
        </p:spPr>
      </p:pic>
      <p:pic>
        <p:nvPicPr>
          <p:cNvPr id="3074" name="图片 5" descr="C:\Users\xuejie.yu\AppData\Local\Temp\WeChat Files\3a2b4010043f5c844d38aa2b9f5f63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12163" y="6076950"/>
            <a:ext cx="3779837" cy="781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0575" y="276016"/>
            <a:ext cx="9518680" cy="942340"/>
          </a:xfrm>
        </p:spPr>
        <p:txBody>
          <a:bodyPr/>
          <a:lstStyle>
            <a:lvl1pPr>
              <a:defRPr sz="370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1525" y="1308100"/>
            <a:ext cx="10687685" cy="4818380"/>
          </a:xfrm>
        </p:spPr>
        <p:txBody>
          <a:bodyPr/>
          <a:lstStyle>
            <a:lvl1pPr marL="609600" indent="-609600">
              <a:lnSpc>
                <a:spcPct val="150000"/>
              </a:lnSpc>
              <a:buClr>
                <a:srgbClr val="40D59B"/>
              </a:buClr>
              <a:buFont typeface="Wingdings" panose="05000000000000000000" charset="0"/>
              <a:buChar char=""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66800" indent="-457200">
              <a:lnSpc>
                <a:spcPct val="150000"/>
              </a:lnSpc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600200" indent="-381000">
              <a:lnSpc>
                <a:spcPct val="150000"/>
              </a:lnSpc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2209800" indent="-381000">
              <a:buClr>
                <a:srgbClr val="40D59B"/>
              </a:buClr>
              <a:buFont typeface="Wingdings" panose="05000000000000000000" charset="0"/>
              <a:buChar char="q"/>
              <a:defRPr/>
            </a:lvl4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endParaRPr lang="zh-CN" altLang="en-US" noProof="1"/>
          </a:p>
        </p:txBody>
      </p:sp>
      <p:sp>
        <p:nvSpPr>
          <p:cNvPr id="6" name="灯片编号占位符 3"/>
          <p:cNvSpPr>
            <a:spLocks noGrp="1"/>
          </p:cNvSpPr>
          <p:nvPr userDrawn="1"/>
        </p:nvSpPr>
        <p:spPr>
          <a:xfrm>
            <a:off x="687388" y="628427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fld id="{0F2CF01B-DEC6-419C-B3B6-D9E741443E72}" type="slidenum">
              <a:rPr lang="zh-CN" altLang="en-US" sz="1800" smtClean="0"/>
              <a:t>‹#›</a:t>
            </a:fld>
            <a:r>
              <a:rPr lang="en-US" altLang="zh-CN" sz="1800" dirty="0"/>
              <a:t>/</a:t>
            </a:r>
            <a:r>
              <a:rPr lang="en-US" sz="1800" dirty="0"/>
              <a:t>43</a:t>
            </a:r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小章节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80" y="-9525"/>
            <a:ext cx="12228195" cy="6877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9100" y="2436813"/>
            <a:ext cx="10972800" cy="1143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311150" y="6272213"/>
            <a:ext cx="2844800" cy="366713"/>
          </a:xfrm>
          <a:prstGeom prst="rect">
            <a:avLst/>
          </a:prstGeom>
        </p:spPr>
        <p:txBody>
          <a:bodyPr/>
          <a:lstStyle/>
          <a:p>
            <a:fld id="{9A0DB2DC-4C9A-4742-B13C-FB6460FD3503}" type="slidenum">
              <a:rPr lang="zh-CN" altLang="en-US" dirty="0">
                <a:latin typeface="微软雅黑" panose="020B0503020204020204" pitchFamily="34" charset="-122"/>
              </a:rPr>
              <a:t>‹#›</a:t>
            </a:fld>
            <a:r>
              <a:rPr lang="en-US" altLang="zh-CN" dirty="0">
                <a:latin typeface="微软雅黑" panose="020B0503020204020204" pitchFamily="34" charset="-122"/>
              </a:rPr>
              <a:t>/20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pic>
        <p:nvPicPr>
          <p:cNvPr id="7171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91525" y="6169025"/>
            <a:ext cx="3552825" cy="66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6"/>
          <p:cNvSpPr>
            <a:spLocks noChangeArrowheads="1"/>
          </p:cNvSpPr>
          <p:nvPr/>
        </p:nvSpPr>
        <p:spPr bwMode="auto">
          <a:xfrm rot="5400000">
            <a:off x="-46037" y="454025"/>
            <a:ext cx="663575" cy="571500"/>
          </a:xfrm>
          <a:prstGeom prst="triangle">
            <a:avLst>
              <a:gd name="adj" fmla="val 50000"/>
            </a:avLst>
          </a:prstGeom>
          <a:solidFill>
            <a:srgbClr val="A0C101"/>
          </a:solidFill>
          <a:ln>
            <a:noFill/>
          </a:ln>
        </p:spPr>
        <p:txBody>
          <a:bodyPr lIns="121913" tIns="60956" rIns="121913" bIns="60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905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5123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3000" y="219075"/>
            <a:ext cx="2111375" cy="946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313113" y="1123950"/>
            <a:ext cx="5870575" cy="774700"/>
          </a:xfrm>
          <a:prstGeom prst="rect">
            <a:avLst/>
          </a:prstGeom>
          <a:noFill/>
          <a:ln>
            <a:noFill/>
          </a:ln>
        </p:spPr>
        <p:txBody>
          <a:bodyPr wrap="none" lIns="121913" tIns="60956" rIns="121913" bIns="6095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423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扫我有更多精彩课程呦</a:t>
            </a:r>
          </a:p>
        </p:txBody>
      </p:sp>
      <p:pic>
        <p:nvPicPr>
          <p:cNvPr id="5125" name="图片 1" descr="课工场最终蓝绿色v1-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3500" y="165100"/>
            <a:ext cx="1608138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图片 6" descr="ppt01-01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/>
    </p:bldLst>
  </p:timing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r>
              <a:rPr lang="en-US" altLang="zh-CN" sz="1500" dirty="0">
                <a:solidFill>
                  <a:srgbClr val="A6A6A6"/>
                </a:solidFill>
                <a:latin typeface="微软雅黑" panose="020B0503020204020204" pitchFamily="34" charset="-122"/>
              </a:rPr>
              <a:t>/20</a:t>
            </a:r>
            <a:endParaRPr lang="zh-CN" altLang="en-US" sz="1500" dirty="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 anchor="ctr"/>
          <a:lstStyle/>
          <a:p>
            <a:pPr lvl="0"/>
            <a:r>
              <a:rPr lang="en-US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609600" y="1308100"/>
            <a:ext cx="10972800" cy="4818063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/>
          <a:p>
            <a:pPr lvl="0"/>
            <a:r>
              <a:rPr lang="en-US" altLang="en-US" dirty="0"/>
              <a:t>单击此处编辑母版文本样式</a:t>
            </a:r>
          </a:p>
          <a:p>
            <a:pPr lvl="1"/>
            <a:r>
              <a:rPr lang="en-US" altLang="en-US" dirty="0"/>
              <a:t>第二级</a:t>
            </a:r>
          </a:p>
          <a:p>
            <a:pPr lvl="2"/>
            <a:r>
              <a:rPr lang="en-US" altLang="en-US" dirty="0"/>
              <a:t>第三级</a:t>
            </a:r>
          </a:p>
          <a:p>
            <a:pPr lvl="3"/>
            <a:r>
              <a:rPr lang="en-US" altLang="en-US" dirty="0"/>
              <a:t>第四级</a:t>
            </a:r>
          </a:p>
          <a:p>
            <a:pPr lvl="4"/>
            <a:r>
              <a:rPr lang="en-US" altLang="en-US" dirty="0"/>
              <a:t>第五级</a:t>
            </a:r>
          </a:p>
        </p:txBody>
      </p:sp>
      <p:sp>
        <p:nvSpPr>
          <p:cNvPr id="1030" name="等腰三角形 6"/>
          <p:cNvSpPr>
            <a:spLocks noChangeArrowheads="1"/>
          </p:cNvSpPr>
          <p:nvPr/>
        </p:nvSpPr>
        <p:spPr bwMode="auto">
          <a:xfrm rot="5400000">
            <a:off x="-46037" y="454025"/>
            <a:ext cx="663575" cy="571500"/>
          </a:xfrm>
          <a:prstGeom prst="triangle">
            <a:avLst>
              <a:gd name="adj" fmla="val 50000"/>
            </a:avLst>
          </a:prstGeom>
          <a:solidFill>
            <a:srgbClr val="A0C101"/>
          </a:solidFill>
          <a:ln>
            <a:noFill/>
          </a:ln>
        </p:spPr>
        <p:txBody>
          <a:bodyPr lIns="121913" tIns="60956" rIns="121913" bIns="6095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905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311150" y="6272213"/>
            <a:ext cx="2844800" cy="366713"/>
          </a:xfrm>
          <a:prstGeom prst="rect">
            <a:avLst/>
          </a:prstGeom>
        </p:spPr>
        <p:txBody>
          <a:bodyPr/>
          <a:lstStyle>
            <a:lvl1pPr>
              <a:defRPr sz="1500">
                <a:solidFill>
                  <a:srgbClr val="A6A6A6"/>
                </a:solidFill>
                <a:latin typeface="微软雅黑" panose="020B0503020204020204" pitchFamily="34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r>
              <a:rPr lang="en-US" altLang="zh-CN" sz="1500" dirty="0">
                <a:solidFill>
                  <a:srgbClr val="A6A6A6"/>
                </a:solidFill>
                <a:latin typeface="微软雅黑" panose="020B0503020204020204" pitchFamily="34" charset="-122"/>
              </a:rPr>
              <a:t>/20</a:t>
            </a:r>
            <a:endParaRPr lang="zh-CN" altLang="en-US" sz="1500" dirty="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5pPr>
      <a:lvl6pPr marL="609600" algn="l" rtl="0" fontAlgn="base">
        <a:spcBef>
          <a:spcPct val="0"/>
        </a:spcBef>
        <a:spcAft>
          <a:spcPct val="0"/>
        </a:spcAft>
        <a:defRPr sz="370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6pPr>
      <a:lvl7pPr marL="1219200" algn="l" rtl="0" fontAlgn="base">
        <a:spcBef>
          <a:spcPct val="0"/>
        </a:spcBef>
        <a:spcAft>
          <a:spcPct val="0"/>
        </a:spcAft>
        <a:defRPr sz="370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7pPr>
      <a:lvl8pPr marL="1828800" algn="l" rtl="0" fontAlgn="base">
        <a:spcBef>
          <a:spcPct val="0"/>
        </a:spcBef>
        <a:spcAft>
          <a:spcPct val="0"/>
        </a:spcAft>
        <a:defRPr sz="370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8pPr>
      <a:lvl9pPr marL="2438400" algn="l" rtl="0" fontAlgn="base">
        <a:spcBef>
          <a:spcPct val="0"/>
        </a:spcBef>
        <a:spcAft>
          <a:spcPct val="0"/>
        </a:spcAft>
        <a:defRPr sz="3705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9pPr>
    </p:titleStyle>
    <p:bodyStyle>
      <a:lvl1pPr marL="609600" indent="-609600" algn="l" rtl="0" eaLnBrk="0" fontAlgn="base" hangingPunct="0">
        <a:spcBef>
          <a:spcPct val="20000"/>
        </a:spcBef>
        <a:spcAft>
          <a:spcPct val="0"/>
        </a:spcAft>
        <a:buClr>
          <a:srgbClr val="A0C101"/>
        </a:buClr>
        <a:buFont typeface="Wingdings" panose="05000000000000000000" pitchFamily="2" charset="2"/>
        <a:buChar char="n"/>
        <a:defRPr sz="31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1pPr>
      <a:lvl2pPr marL="1143000" lvl="1" indent="-457200" algn="l" rtl="0" eaLnBrk="0" fontAlgn="base" hangingPunct="0">
        <a:spcBef>
          <a:spcPct val="20000"/>
        </a:spcBef>
        <a:spcAft>
          <a:spcPct val="0"/>
        </a:spcAft>
        <a:buClr>
          <a:srgbClr val="A0C101"/>
        </a:buClr>
        <a:buSzPct val="90000"/>
        <a:buFont typeface="Wingdings" panose="05000000000000000000" pitchFamily="2" charset="2"/>
        <a:buChar char="n"/>
        <a:defRPr sz="29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2pPr>
      <a:lvl3pPr marL="1828800" lvl="2" indent="-457200" algn="l" rtl="0" eaLnBrk="0" fontAlgn="base" hangingPunct="0">
        <a:spcBef>
          <a:spcPct val="20000"/>
        </a:spcBef>
        <a:spcAft>
          <a:spcPct val="0"/>
        </a:spcAft>
        <a:buClr>
          <a:srgbClr val="A0C101"/>
        </a:buClr>
        <a:buSzPct val="85000"/>
        <a:buFont typeface="Wingdings" panose="05000000000000000000" pitchFamily="2" charset="2"/>
        <a:buChar char="n"/>
        <a:defRPr sz="2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3pPr>
      <a:lvl4pPr marL="2209800" lvl="3" indent="-381000" algn="l" rtl="0" eaLnBrk="0" fontAlgn="base" hangingPunct="0">
        <a:spcBef>
          <a:spcPct val="20000"/>
        </a:spcBef>
        <a:spcAft>
          <a:spcPct val="0"/>
        </a:spcAft>
        <a:buClr>
          <a:srgbClr val="A0C101"/>
        </a:buClr>
        <a:buFont typeface="Wingdings" panose="05000000000000000000" pitchFamily="2" charset="2"/>
        <a:buChar char="n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4pPr>
      <a:lvl5pPr marL="2743200" lvl="4" indent="-304800" algn="l" rtl="0" eaLnBrk="0" fontAlgn="base" hangingPunct="0">
        <a:spcBef>
          <a:spcPct val="20000"/>
        </a:spcBef>
        <a:spcAft>
          <a:spcPct val="0"/>
        </a:spcAft>
        <a:buClr>
          <a:srgbClr val="A0C101"/>
        </a:buClr>
        <a:buFont typeface="Wingdings" panose="05000000000000000000" pitchFamily="2" charset="2"/>
        <a:buChar char="n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5pPr>
      <a:lvl6pPr marL="3352165" lvl="5" indent="-304800" algn="l" defTabSz="1218565" eaLnBrk="1" fontAlgn="base" latinLnBrk="0" hangingPunct="1">
        <a:spcBef>
          <a:spcPct val="20000"/>
        </a:spcBef>
        <a:buFont typeface="Arial" panose="020B0604020202020204" pitchFamily="34" charset="0"/>
        <a:buChar char="»"/>
        <a:defRPr sz="2115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3961765" lvl="6" indent="-304800" algn="l" defTabSz="1218565" eaLnBrk="1" fontAlgn="base" latinLnBrk="0" hangingPunct="1">
        <a:spcBef>
          <a:spcPct val="20000"/>
        </a:spcBef>
        <a:buFont typeface="Arial" panose="020B0604020202020204" pitchFamily="34" charset="0"/>
        <a:buChar char="»"/>
        <a:defRPr sz="2115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4571365" lvl="7" indent="-304800" algn="l" defTabSz="1218565" eaLnBrk="1" fontAlgn="base" latinLnBrk="0" hangingPunct="1">
        <a:spcBef>
          <a:spcPct val="20000"/>
        </a:spcBef>
        <a:buFont typeface="Arial" panose="020B0604020202020204" pitchFamily="34" charset="0"/>
        <a:buChar char="»"/>
        <a:defRPr sz="2115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5180965" lvl="8" indent="-304800" algn="l" defTabSz="1218565" eaLnBrk="1" fontAlgn="base" latinLnBrk="0" hangingPunct="1">
        <a:spcBef>
          <a:spcPct val="20000"/>
        </a:spcBef>
        <a:buFont typeface="Arial" panose="020B0604020202020204" pitchFamily="34" charset="0"/>
        <a:buChar char="»"/>
        <a:defRPr sz="2115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19200" lvl="2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828800" lvl="3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38400" lvl="4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48000" lvl="5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656965" lvl="6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266565" lvl="7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876165" lvl="8" indent="0" algn="l" defTabSz="1218565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3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46375" y="2538412"/>
            <a:ext cx="7948613" cy="1781175"/>
          </a:xfrm>
        </p:spPr>
        <p:txBody>
          <a:bodyPr vert="horz" wrap="square" lIns="115214" tIns="57607" rIns="115214" bIns="57607" numCol="1" anchor="ctr" anchorCtr="0" compatLnSpc="1">
            <a:normAutofit/>
          </a:bodyPr>
          <a:lstStyle/>
          <a:p>
            <a:pPr algn="l">
              <a:defRPr/>
            </a:pPr>
            <a:r>
              <a:rPr sz="5400" dirty="0">
                <a:sym typeface="+mn-ea"/>
              </a:rPr>
              <a:t>第</a:t>
            </a:r>
            <a:r>
              <a:rPr lang="zh-CN" altLang="en-US" sz="5400" dirty="0">
                <a:sym typeface="+mn-ea"/>
              </a:rPr>
              <a:t>一</a:t>
            </a:r>
            <a:r>
              <a:rPr sz="5400" dirty="0">
                <a:sym typeface="+mn-ea"/>
              </a:rPr>
              <a:t>章</a:t>
            </a:r>
            <a:r>
              <a:rPr lang="en-US" altLang="zh-CN" sz="5400" dirty="0">
                <a:sym typeface="+mn-ea"/>
              </a:rPr>
              <a:t> </a:t>
            </a:r>
            <a:r>
              <a:rPr lang="zh-CN" altLang="en-US" sz="5400" dirty="0"/>
              <a:t>初识</a:t>
            </a:r>
            <a:r>
              <a:rPr lang="en-US" altLang="zh-CN" sz="5400" dirty="0"/>
              <a:t>JavaScript</a:t>
            </a:r>
            <a:endParaRPr sz="5400" dirty="0">
              <a:sym typeface="+mn-ea"/>
            </a:endParaRPr>
          </a:p>
        </p:txBody>
      </p:sp>
      <p:pic>
        <p:nvPicPr>
          <p:cNvPr id="7171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5" y="6169025"/>
            <a:ext cx="3552825" cy="66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3A4DD-FA73-4ED7-87CF-93DAE4C3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477AC-B30A-41E9-8927-99F9DF55A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学完本门课程后，你能够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F38195-A1A5-4C90-A8CC-14EBF34D5479}"/>
              </a:ext>
            </a:extLst>
          </p:cNvPr>
          <p:cNvSpPr/>
          <p:nvPr/>
        </p:nvSpPr>
        <p:spPr bwMode="auto">
          <a:xfrm>
            <a:off x="3774265" y="2454646"/>
            <a:ext cx="4786346" cy="928688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Arial"/>
                <a:ea typeface="黑体"/>
              </a:rPr>
              <a:t>制作网页特效</a:t>
            </a:r>
            <a:endParaRPr lang="en-US" altLang="zh-CN" sz="2400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0C2389-E887-4528-B27B-527585BCE6C9}"/>
              </a:ext>
            </a:extLst>
          </p:cNvPr>
          <p:cNvSpPr/>
          <p:nvPr/>
        </p:nvSpPr>
        <p:spPr bwMode="auto">
          <a:xfrm>
            <a:off x="3774265" y="3826219"/>
            <a:ext cx="4786346" cy="928688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Arial"/>
                <a:ea typeface="黑体"/>
              </a:rPr>
              <a:t>实现表单验证</a:t>
            </a:r>
          </a:p>
        </p:txBody>
      </p:sp>
    </p:spTree>
    <p:extLst>
      <p:ext uri="{BB962C8B-B14F-4D97-AF65-F5344CB8AC3E}">
        <p14:creationId xmlns:p14="http://schemas.microsoft.com/office/powerpoint/2010/main" val="329968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课程结构图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7B1DB5-F3E1-4622-8F20-E51C751B2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3579"/>
            <a:ext cx="11657363" cy="414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0FC43-8AD6-486C-8363-E2009C98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本章任务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0791E2-FAA7-493D-A60A-745A4A999847}"/>
              </a:ext>
            </a:extLst>
          </p:cNvPr>
          <p:cNvSpPr txBox="1">
            <a:spLocks noChangeArrowheads="1"/>
          </p:cNvSpPr>
          <p:nvPr/>
        </p:nvSpPr>
        <p:spPr>
          <a:xfrm>
            <a:off x="790575" y="1308100"/>
            <a:ext cx="9518680" cy="3793402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统计包含“</a:t>
            </a:r>
            <a:r>
              <a:rPr lang="en-US" altLang="zh-CN" sz="2800" dirty="0"/>
              <a:t>a</a:t>
            </a:r>
            <a:r>
              <a:rPr lang="zh-CN" altLang="en-US" sz="2800" dirty="0"/>
              <a:t>“或“</a:t>
            </a:r>
            <a:r>
              <a:rPr lang="en-US" altLang="zh-CN" sz="2800" dirty="0"/>
              <a:t>A</a:t>
            </a:r>
            <a:r>
              <a:rPr lang="zh-CN" altLang="en-US" sz="2800" dirty="0"/>
              <a:t>“的字符串的个数</a:t>
            </a:r>
          </a:p>
          <a:p>
            <a:pPr>
              <a:defRPr/>
            </a:pPr>
            <a:r>
              <a:rPr lang="zh-CN" altLang="en-US" sz="2800" dirty="0"/>
              <a:t>调试程序</a:t>
            </a:r>
          </a:p>
          <a:p>
            <a:pPr>
              <a:defRPr/>
            </a:pPr>
            <a:r>
              <a:rPr lang="zh-CN" altLang="en-US" sz="2800" dirty="0"/>
              <a:t>实现两个数的四则运算</a:t>
            </a:r>
          </a:p>
          <a:p>
            <a:pPr>
              <a:defRPr/>
            </a:pPr>
            <a:r>
              <a:rPr lang="zh-CN" altLang="en-US" sz="2800" dirty="0"/>
              <a:t>统计考试科目的成绩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EE6895-6D60-4CC3-9BCB-21DBE2570A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805" y="3051451"/>
            <a:ext cx="5171332" cy="23762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EF529D-165E-4F48-9AFA-E079CBF4E5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119" y="2028513"/>
            <a:ext cx="4432350" cy="4111165"/>
          </a:xfrm>
          <a:prstGeom prst="rect">
            <a:avLst/>
          </a:prstGeom>
        </p:spPr>
      </p:pic>
      <p:pic>
        <p:nvPicPr>
          <p:cNvPr id="7" name="Picture 2" descr="F:\2016年工作\ACCP8.0产品开发\jQuery\案例源码\chapter01\Chapter01截图\图1.15.BMP">
            <a:extLst>
              <a:ext uri="{FF2B5EF4-FFF2-40B4-BE49-F238E27FC236}">
                <a16:creationId xmlns:a16="http://schemas.microsoft.com/office/drawing/2014/main" id="{A6E866B5-FF53-4149-961D-41AC4321C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05" y="2187395"/>
            <a:ext cx="5498035" cy="379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F:\2016年工作\ACCP8.0产品开发\jQuery\案例源码\chapter01\Chapter01截图\图1.40.BMP">
            <a:extLst>
              <a:ext uri="{FF2B5EF4-FFF2-40B4-BE49-F238E27FC236}">
                <a16:creationId xmlns:a16="http://schemas.microsoft.com/office/drawing/2014/main" id="{BE076C0E-88D7-4A97-98DD-5D27F9CD6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57" y="3429000"/>
            <a:ext cx="4998473" cy="197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04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43A62-0733-4496-AB77-98519362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276016"/>
            <a:ext cx="9518680" cy="942340"/>
          </a:xfrm>
        </p:spPr>
        <p:txBody>
          <a:bodyPr/>
          <a:lstStyle/>
          <a:p>
            <a:r>
              <a:rPr lang="zh-CN" altLang="en-US" dirty="0"/>
              <a:t>本章目标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37AE5EE-054C-48AB-B924-B70920C28068}"/>
              </a:ext>
            </a:extLst>
          </p:cNvPr>
          <p:cNvSpPr txBox="1">
            <a:spLocks/>
          </p:cNvSpPr>
          <p:nvPr/>
        </p:nvSpPr>
        <p:spPr>
          <a:xfrm>
            <a:off x="732790" y="1308100"/>
            <a:ext cx="9220835" cy="2768972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掌握</a:t>
            </a:r>
            <a:r>
              <a:rPr lang="en-US" altLang="zh-CN" sz="2800" dirty="0"/>
              <a:t>JavaScript</a:t>
            </a:r>
            <a:r>
              <a:rPr lang="zh-CN" altLang="en-US" sz="2800" dirty="0"/>
              <a:t>的组成</a:t>
            </a:r>
          </a:p>
          <a:p>
            <a:pPr>
              <a:defRPr/>
            </a:pPr>
            <a:r>
              <a:rPr lang="zh-CN" altLang="en-US" sz="2800" dirty="0"/>
              <a:t>掌握</a:t>
            </a:r>
            <a:r>
              <a:rPr lang="en-US" altLang="zh-CN" sz="2800" dirty="0"/>
              <a:t>JavaScript</a:t>
            </a:r>
            <a:r>
              <a:rPr lang="zh-CN" altLang="en-US" sz="2800" dirty="0"/>
              <a:t>的基本语法</a:t>
            </a:r>
          </a:p>
          <a:p>
            <a:pPr>
              <a:defRPr/>
            </a:pPr>
            <a:r>
              <a:rPr lang="zh-CN" altLang="en-US" sz="2800" dirty="0"/>
              <a:t>会定义和使用函数</a:t>
            </a:r>
          </a:p>
          <a:p>
            <a:pPr>
              <a:defRPr/>
            </a:pPr>
            <a:r>
              <a:rPr lang="zh-CN" altLang="en-US" sz="2800" dirty="0"/>
              <a:t>会使用工具进行代码调试</a:t>
            </a:r>
          </a:p>
        </p:txBody>
      </p: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89FA5A70-D08B-4137-A015-CBA3200E5670}"/>
              </a:ext>
            </a:extLst>
          </p:cNvPr>
          <p:cNvSpPr txBox="1">
            <a:spLocks/>
          </p:cNvSpPr>
          <p:nvPr/>
        </p:nvSpPr>
        <p:spPr>
          <a:xfrm>
            <a:off x="8023307" y="6433385"/>
            <a:ext cx="2573256" cy="353179"/>
          </a:xfrm>
        </p:spPr>
        <p:txBody>
          <a:bodyPr/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dirty="0"/>
          </a:p>
        </p:txBody>
      </p:sp>
      <p:pic>
        <p:nvPicPr>
          <p:cNvPr id="11" name="图片 10" descr="重点">
            <a:extLst>
              <a:ext uri="{FF2B5EF4-FFF2-40B4-BE49-F238E27FC236}">
                <a16:creationId xmlns:a16="http://schemas.microsoft.com/office/drawing/2014/main" id="{D094AE4D-4A96-4A50-8AE0-8B5FFA25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79725"/>
            <a:ext cx="834390" cy="549275"/>
          </a:xfrm>
          <a:prstGeom prst="rect">
            <a:avLst/>
          </a:prstGeom>
        </p:spPr>
      </p:pic>
      <p:pic>
        <p:nvPicPr>
          <p:cNvPr id="12" name="图片 11" descr="难点">
            <a:extLst>
              <a:ext uri="{FF2B5EF4-FFF2-40B4-BE49-F238E27FC236}">
                <a16:creationId xmlns:a16="http://schemas.microsoft.com/office/drawing/2014/main" id="{452B734A-D14A-47B0-80B1-8D2391219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51" y="2879725"/>
            <a:ext cx="835025" cy="549910"/>
          </a:xfrm>
          <a:prstGeom prst="rect">
            <a:avLst/>
          </a:prstGeom>
        </p:spPr>
      </p:pic>
      <p:pic>
        <p:nvPicPr>
          <p:cNvPr id="14" name="图片 13" descr="重点">
            <a:extLst>
              <a:ext uri="{FF2B5EF4-FFF2-40B4-BE49-F238E27FC236}">
                <a16:creationId xmlns:a16="http://schemas.microsoft.com/office/drawing/2014/main" id="{77A793DE-62FF-4E27-BBE6-8FB408271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43311"/>
            <a:ext cx="834390" cy="549275"/>
          </a:xfrm>
          <a:prstGeom prst="rect">
            <a:avLst/>
          </a:prstGeom>
        </p:spPr>
      </p:pic>
      <p:pic>
        <p:nvPicPr>
          <p:cNvPr id="15" name="图片 14" descr="重点">
            <a:extLst>
              <a:ext uri="{FF2B5EF4-FFF2-40B4-BE49-F238E27FC236}">
                <a16:creationId xmlns:a16="http://schemas.microsoft.com/office/drawing/2014/main" id="{96DFCCA1-104D-471A-B879-44D05107C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14462"/>
            <a:ext cx="834390" cy="54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9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6F45C3B-7401-4B84-88E1-411C936E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为什么要学</a:t>
            </a:r>
            <a:r>
              <a:rPr lang="en-US" altLang="zh-CN" dirty="0"/>
              <a:t>JavaScript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C768F209-D791-44B2-A01E-10FA023A6C14}"/>
              </a:ext>
            </a:extLst>
          </p:cNvPr>
          <p:cNvSpPr txBox="1">
            <a:spLocks/>
          </p:cNvSpPr>
          <p:nvPr/>
        </p:nvSpPr>
        <p:spPr>
          <a:xfrm>
            <a:off x="771524" y="1292936"/>
            <a:ext cx="9182101" cy="1415984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表单验证－减轻服务器端压力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600" dirty="0"/>
              <a:t>面动态效果</a:t>
            </a:r>
          </a:p>
          <a:p>
            <a:pPr lvl="1">
              <a:defRPr/>
            </a:pPr>
            <a:endParaRPr lang="zh-CN" altLang="en-US" sz="280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2E9BE69B-7D0E-45D2-811B-D8A83B3A2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692" y="2094712"/>
            <a:ext cx="6340549" cy="460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>
            <a:extLst>
              <a:ext uri="{FF2B5EF4-FFF2-40B4-BE49-F238E27FC236}">
                <a16:creationId xmlns:a16="http://schemas.microsoft.com/office/drawing/2014/main" id="{44B26B46-550B-41CE-B8A0-32DF60683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904" y="2829317"/>
            <a:ext cx="416224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5E146AC-1E39-49B6-B545-9A1601CC70A2}"/>
              </a:ext>
            </a:extLst>
          </p:cNvPr>
          <p:cNvSpPr/>
          <p:nvPr/>
        </p:nvSpPr>
        <p:spPr bwMode="auto">
          <a:xfrm>
            <a:off x="2457063" y="2793314"/>
            <a:ext cx="1008112" cy="335967"/>
          </a:xfrm>
          <a:prstGeom prst="rect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91E93D3-650B-4ECE-8475-F53759E22E8F}"/>
              </a:ext>
            </a:extLst>
          </p:cNvPr>
          <p:cNvCxnSpPr>
            <a:stCxn id="23" idx="3"/>
            <a:endCxn id="26" idx="1"/>
          </p:cNvCxnSpPr>
          <p:nvPr/>
        </p:nvCxnSpPr>
        <p:spPr bwMode="auto">
          <a:xfrm>
            <a:off x="3465176" y="2961297"/>
            <a:ext cx="2328697" cy="120207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F:\2016年工作\ACCP8.0产品开发\jQuery\案例源码\chapter07\Chapter07截图\图7.19.BMP">
            <a:extLst>
              <a:ext uri="{FF2B5EF4-FFF2-40B4-BE49-F238E27FC236}">
                <a16:creationId xmlns:a16="http://schemas.microsoft.com/office/drawing/2014/main" id="{460A6EA5-B642-4F55-9748-45AECA439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110" y="2961296"/>
            <a:ext cx="2713194" cy="253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F:\2016年工作\ACCP8.0产品开发\jQuery\案例源码\chapter07\Chapter07截图\图7.13.BMP">
            <a:extLst>
              <a:ext uri="{FF2B5EF4-FFF2-40B4-BE49-F238E27FC236}">
                <a16:creationId xmlns:a16="http://schemas.microsoft.com/office/drawing/2014/main" id="{B97B2BFB-A30B-40DE-8C06-463114A2A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872" y="2833137"/>
            <a:ext cx="4190738" cy="266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F6D51C11-43ED-417E-8929-52E3147C0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942" y="3273297"/>
            <a:ext cx="5441669" cy="326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82367C0-153C-4BE7-BE0B-53481773E083}"/>
              </a:ext>
            </a:extLst>
          </p:cNvPr>
          <p:cNvSpPr/>
          <p:nvPr/>
        </p:nvSpPr>
        <p:spPr bwMode="auto">
          <a:xfrm>
            <a:off x="1670110" y="3995392"/>
            <a:ext cx="2011089" cy="335967"/>
          </a:xfrm>
          <a:prstGeom prst="rect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400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6018230-B3A5-4C44-A54F-7D2C90834AC5}"/>
              </a:ext>
            </a:extLst>
          </p:cNvPr>
          <p:cNvCxnSpPr/>
          <p:nvPr/>
        </p:nvCxnSpPr>
        <p:spPr bwMode="auto">
          <a:xfrm flipV="1">
            <a:off x="3681199" y="3849361"/>
            <a:ext cx="948324" cy="312105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ECC47D1-F3FE-4C2E-B9E9-B69A3D22C13B}"/>
              </a:ext>
            </a:extLst>
          </p:cNvPr>
          <p:cNvSpPr txBox="1">
            <a:spLocks/>
          </p:cNvSpPr>
          <p:nvPr/>
        </p:nvSpPr>
        <p:spPr>
          <a:xfrm>
            <a:off x="790575" y="276016"/>
            <a:ext cx="9518680" cy="94234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Tx/>
            </a:pPr>
            <a:r>
              <a:rPr lang="zh-CN" altLang="en-US"/>
              <a:t>什么是</a:t>
            </a:r>
            <a:r>
              <a:rPr lang="en-US" altLang="zh-CN"/>
              <a:t>JavaScript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41D0BEC-FAD6-40E6-951D-EE824DC538E5}"/>
              </a:ext>
            </a:extLst>
          </p:cNvPr>
          <p:cNvSpPr txBox="1">
            <a:spLocks/>
          </p:cNvSpPr>
          <p:nvPr/>
        </p:nvSpPr>
        <p:spPr>
          <a:xfrm>
            <a:off x="790574" y="1003300"/>
            <a:ext cx="11081385" cy="440690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2800" dirty="0"/>
              <a:t>JavaScript</a:t>
            </a:r>
            <a:r>
              <a:rPr lang="zh-CN" altLang="en-US" sz="2800" dirty="0"/>
              <a:t>是一种基于对象和事件驱动的、并具有安全性能的脚本语言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JavaScript</a:t>
            </a:r>
            <a:r>
              <a:rPr lang="zh-CN" altLang="en-US" sz="2800" dirty="0"/>
              <a:t>特点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600" dirty="0"/>
              <a:t>向</a:t>
            </a:r>
            <a:r>
              <a:rPr lang="en-US" sz="2600" dirty="0"/>
              <a:t>HTML</a:t>
            </a:r>
            <a:r>
              <a:rPr lang="zh-CN" altLang="en-US" sz="2600" dirty="0"/>
              <a:t>页面中添加交互行为</a:t>
            </a:r>
            <a:endParaRPr lang="en-US" altLang="zh-CN" sz="2600" dirty="0"/>
          </a:p>
          <a:p>
            <a:pPr lvl="1">
              <a:defRPr/>
            </a:pPr>
            <a:r>
              <a:rPr lang="zh-CN" altLang="en-US" sz="2600" dirty="0"/>
              <a:t>脚本语言</a:t>
            </a:r>
            <a:endParaRPr lang="en-US" altLang="zh-CN" sz="2600" dirty="0"/>
          </a:p>
          <a:p>
            <a:pPr lvl="1">
              <a:defRPr/>
            </a:pPr>
            <a:r>
              <a:rPr lang="zh-CN" altLang="en-US" sz="2600" dirty="0"/>
              <a:t>解释性语言，边执行边解释</a:t>
            </a:r>
            <a:endParaRPr lang="en-US" altLang="zh-CN" sz="2600" dirty="0"/>
          </a:p>
          <a:p>
            <a:pPr>
              <a:defRPr/>
            </a:pPr>
            <a:r>
              <a:rPr lang="en-US" altLang="zh-CN" sz="2800" dirty="0"/>
              <a:t>JavaScript</a:t>
            </a:r>
            <a:r>
              <a:rPr lang="zh-CN" altLang="en-US" sz="2800" dirty="0"/>
              <a:t>组成</a:t>
            </a:r>
            <a:endParaRPr lang="en-US" altLang="zh-CN" sz="2800" dirty="0"/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1F30C74C-284C-4F6B-83D5-83EF11F374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61333" y="5617389"/>
            <a:ext cx="1541128" cy="400559"/>
          </a:xfrm>
          <a:prstGeom prst="flowChartAlternateProcess">
            <a:avLst/>
          </a:prstGeom>
          <a:solidFill>
            <a:srgbClr val="00C77A"/>
          </a:solidFill>
          <a:ln w="38100" algn="ctr">
            <a:solidFill>
              <a:srgbClr val="00C77A"/>
            </a:solidFill>
            <a:round/>
            <a:headEnd type="triangle"/>
            <a:tailEnd type="none" w="med" len="med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spcBef>
                <a:spcPts val="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+mn-ea"/>
                <a:ea typeface="+mn-ea"/>
              </a:rPr>
              <a:t>DOM</a:t>
            </a:r>
            <a:endParaRPr lang="zh-CN" altLang="en-US" b="1" kern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B5015052-5FAC-4EAC-BE9A-5B0ED6515E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947624" y="4114205"/>
            <a:ext cx="2568546" cy="495632"/>
          </a:xfrm>
          <a:prstGeom prst="flowChartAlternateProcess">
            <a:avLst/>
          </a:prstGeom>
          <a:solidFill>
            <a:srgbClr val="00C77A"/>
          </a:solidFill>
          <a:ln w="38100" algn="ctr">
            <a:solidFill>
              <a:srgbClr val="00C77A"/>
            </a:solidFill>
            <a:round/>
            <a:headEnd type="triangle"/>
            <a:tailEnd type="none" w="med" len="med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spcBef>
                <a:spcPts val="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+mn-ea"/>
                <a:ea typeface="+mn-ea"/>
              </a:rPr>
              <a:t>JavaScript</a:t>
            </a:r>
            <a:endParaRPr lang="zh-CN" altLang="en-US" b="1" kern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8" name="AutoShape 17">
            <a:extLst>
              <a:ext uri="{FF2B5EF4-FFF2-40B4-BE49-F238E27FC236}">
                <a16:creationId xmlns:a16="http://schemas.microsoft.com/office/drawing/2014/main" id="{AE896698-0619-4D14-BD96-BA8143630454}"/>
              </a:ext>
            </a:extLst>
          </p:cNvPr>
          <p:cNvCxnSpPr>
            <a:cxnSpLocks noChangeShapeType="1"/>
            <a:stCxn id="7" idx="2"/>
            <a:endCxn id="6" idx="0"/>
          </p:cNvCxnSpPr>
          <p:nvPr/>
        </p:nvCxnSpPr>
        <p:spPr bwMode="auto">
          <a:xfrm>
            <a:off x="9231897" y="4609837"/>
            <a:ext cx="0" cy="1007552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AutoShape 20">
            <a:extLst>
              <a:ext uri="{FF2B5EF4-FFF2-40B4-BE49-F238E27FC236}">
                <a16:creationId xmlns:a16="http://schemas.microsoft.com/office/drawing/2014/main" id="{BBF69C25-0129-4218-A10C-0006E91E60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03962" y="5614364"/>
            <a:ext cx="2140456" cy="494073"/>
          </a:xfrm>
          <a:prstGeom prst="flowChartAlternateProcess">
            <a:avLst/>
          </a:prstGeom>
          <a:solidFill>
            <a:srgbClr val="00C77A"/>
          </a:solidFill>
          <a:ln w="38100" algn="ctr">
            <a:solidFill>
              <a:srgbClr val="00C77A"/>
            </a:solidFill>
            <a:round/>
            <a:headEnd type="triangle"/>
            <a:tailEnd type="none" w="med" len="med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spcBef>
                <a:spcPts val="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err="1">
                <a:solidFill>
                  <a:schemeClr val="bg1"/>
                </a:solidFill>
                <a:latin typeface="+mn-ea"/>
                <a:ea typeface="+mn-ea"/>
              </a:rPr>
              <a:t>ECMAScript</a:t>
            </a:r>
            <a:endParaRPr lang="en-US" altLang="zh-CN" b="1" kern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AutoShape 21">
            <a:extLst>
              <a:ext uri="{FF2B5EF4-FFF2-40B4-BE49-F238E27FC236}">
                <a16:creationId xmlns:a16="http://schemas.microsoft.com/office/drawing/2014/main" id="{D8B646FB-6727-4D50-9419-C6ADB89C61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30831" y="5588633"/>
            <a:ext cx="1541128" cy="495632"/>
          </a:xfrm>
          <a:prstGeom prst="flowChartAlternateProcess">
            <a:avLst/>
          </a:prstGeom>
          <a:solidFill>
            <a:srgbClr val="00C77A"/>
          </a:solidFill>
          <a:ln w="38100" algn="ctr">
            <a:solidFill>
              <a:srgbClr val="00C77A"/>
            </a:solidFill>
            <a:round/>
            <a:headEnd type="triangle"/>
            <a:tailEnd type="none" w="med" len="med"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spcBef>
                <a:spcPts val="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+mn-ea"/>
                <a:ea typeface="+mn-ea"/>
              </a:rPr>
              <a:t>BOM</a:t>
            </a:r>
          </a:p>
        </p:txBody>
      </p:sp>
      <p:cxnSp>
        <p:nvCxnSpPr>
          <p:cNvPr id="11" name="直接连接符 15">
            <a:extLst>
              <a:ext uri="{FF2B5EF4-FFF2-40B4-BE49-F238E27FC236}">
                <a16:creationId xmlns:a16="http://schemas.microsoft.com/office/drawing/2014/main" id="{E38F5101-DC59-47FA-9A36-733C5903DD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74190" y="5105189"/>
            <a:ext cx="4227205" cy="7646"/>
          </a:xfrm>
          <a:prstGeom prst="line">
            <a:avLst/>
          </a:prstGeom>
          <a:ln cmpd="sng">
            <a:solidFill>
              <a:srgbClr val="00C77A"/>
            </a:solidFill>
            <a:headEnd type="non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9">
            <a:extLst>
              <a:ext uri="{FF2B5EF4-FFF2-40B4-BE49-F238E27FC236}">
                <a16:creationId xmlns:a16="http://schemas.microsoft.com/office/drawing/2014/main" id="{6B1D6D61-F39B-47D2-8326-79630B8CEC20}"/>
              </a:ext>
            </a:extLst>
          </p:cNvPr>
          <p:cNvCxnSpPr>
            <a:cxnSpLocks noChangeShapeType="1"/>
            <a:endCxn id="10" idx="0"/>
          </p:cNvCxnSpPr>
          <p:nvPr/>
        </p:nvCxnSpPr>
        <p:spPr bwMode="auto">
          <a:xfrm>
            <a:off x="11101395" y="5105189"/>
            <a:ext cx="0" cy="483444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7">
            <a:extLst>
              <a:ext uri="{FF2B5EF4-FFF2-40B4-BE49-F238E27FC236}">
                <a16:creationId xmlns:a16="http://schemas.microsoft.com/office/drawing/2014/main" id="{87A0E13A-A7B5-4141-8B1C-6C31530196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74190" y="5105189"/>
            <a:ext cx="315" cy="490956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67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E9590-AB9F-49AB-8AE1-ED0B1812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的基本结构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61AC82-2BB5-415C-B1E8-7EE03D729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的基本结构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BC42F06-733D-4494-BE01-CA0A2782B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090" y="2355850"/>
            <a:ext cx="7000875" cy="1889760"/>
          </a:xfrm>
          <a:prstGeom prst="roundRect">
            <a:avLst>
              <a:gd name="adj" fmla="val 0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&lt;script type="text/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javascript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"&gt;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&lt;!—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  JavaScript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语句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—&gt;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&lt;/script 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74F042A-31D1-4279-A51F-D48B476FBFFC}"/>
              </a:ext>
            </a:extLst>
          </p:cNvPr>
          <p:cNvGrpSpPr/>
          <p:nvPr/>
        </p:nvGrpSpPr>
        <p:grpSpPr>
          <a:xfrm>
            <a:off x="991870" y="2340610"/>
            <a:ext cx="1039495" cy="400050"/>
            <a:chOff x="991870" y="2340610"/>
            <a:chExt cx="1039495" cy="400050"/>
          </a:xfrm>
        </p:grpSpPr>
        <p:sp>
          <p:nvSpPr>
            <p:cNvPr id="6" name="TextBox 14">
              <a:extLst>
                <a:ext uri="{FF2B5EF4-FFF2-40B4-BE49-F238E27FC236}">
                  <a16:creationId xmlns:a16="http://schemas.microsoft.com/office/drawing/2014/main" id="{FD7795FE-1081-4DE6-B2AD-D9DB8044566F}"/>
                </a:ext>
              </a:extLst>
            </p:cNvPr>
            <p:cNvSpPr txBox="1"/>
            <p:nvPr/>
          </p:nvSpPr>
          <p:spPr>
            <a:xfrm>
              <a:off x="1331595" y="2340610"/>
              <a:ext cx="699770" cy="40005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语法</a:t>
              </a:r>
            </a:p>
          </p:txBody>
        </p:sp>
        <p:pic>
          <p:nvPicPr>
            <p:cNvPr id="7" name="图片 6" descr="语法">
              <a:extLst>
                <a:ext uri="{FF2B5EF4-FFF2-40B4-BE49-F238E27FC236}">
                  <a16:creationId xmlns:a16="http://schemas.microsoft.com/office/drawing/2014/main" id="{48C2B573-64DD-4180-BFAE-B40E50CCA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870" y="2340610"/>
              <a:ext cx="389890" cy="389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3688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C8D38-C58E-4A59-9BC3-BAC8CA50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的应用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3B20150-5491-4AD8-9F92-C94A5351F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006" y="1308100"/>
            <a:ext cx="7000875" cy="3340100"/>
          </a:xfrm>
          <a:prstGeom prst="roundRect">
            <a:avLst>
              <a:gd name="adj" fmla="val 0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ea typeface="宋体" charset="-122"/>
              </a:rPr>
              <a:t>……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ea typeface="宋体" charset="-122"/>
              </a:rPr>
              <a:t>&lt;title&gt;</a:t>
            </a:r>
            <a:r>
              <a:rPr lang="zh-CN" altLang="en-US" b="1" dirty="0">
                <a:ea typeface="宋体" charset="-122"/>
              </a:rPr>
              <a:t>初学</a:t>
            </a:r>
            <a:r>
              <a:rPr lang="en-US" altLang="zh-CN" b="1" dirty="0">
                <a:ea typeface="宋体" charset="-122"/>
              </a:rPr>
              <a:t>JavaScript&lt;/title&gt;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ea typeface="宋体" charset="-122"/>
              </a:rPr>
              <a:t>&lt;/head&gt;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ea typeface="宋体" charset="-122"/>
              </a:rPr>
              <a:t>&lt;body&gt;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&lt;script type="text/</a:t>
            </a:r>
            <a:r>
              <a:rPr lang="en-US" altLang="zh-CN" b="1" dirty="0" err="1">
                <a:solidFill>
                  <a:srgbClr val="FF0000"/>
                </a:solidFill>
                <a:ea typeface="宋体" charset="-122"/>
              </a:rPr>
              <a:t>javascript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"&gt;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  <a:ea typeface="宋体" charset="-122"/>
              </a:rPr>
              <a:t>document.write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("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初学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JavaScript");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  <a:ea typeface="宋体" charset="-122"/>
              </a:rPr>
              <a:t>document.write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("&lt;h1&gt;Hello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JavaScript&lt;/h1&gt;");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&lt;/script&gt;</a:t>
            </a:r>
            <a:endParaRPr lang="en-US" altLang="zh-CN" b="1" dirty="0">
              <a:ea typeface="宋体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ea typeface="宋体" charset="-122"/>
              </a:rPr>
              <a:t>&lt;/body&gt;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ea typeface="宋体" charset="-122"/>
              </a:rPr>
              <a:t>&lt;/html&gt;</a:t>
            </a:r>
          </a:p>
        </p:txBody>
      </p:sp>
      <p:grpSp>
        <p:nvGrpSpPr>
          <p:cNvPr id="5" name="组合 70">
            <a:extLst>
              <a:ext uri="{FF2B5EF4-FFF2-40B4-BE49-F238E27FC236}">
                <a16:creationId xmlns:a16="http://schemas.microsoft.com/office/drawing/2014/main" id="{D4A6758F-6842-48BF-A33E-CCFEB6732B4D}"/>
              </a:ext>
            </a:extLst>
          </p:cNvPr>
          <p:cNvGrpSpPr/>
          <p:nvPr/>
        </p:nvGrpSpPr>
        <p:grpSpPr bwMode="auto">
          <a:xfrm>
            <a:off x="790575" y="1308100"/>
            <a:ext cx="1078259" cy="414337"/>
            <a:chOff x="921965" y="2536466"/>
            <a:chExt cx="1078267" cy="414475"/>
          </a:xfrm>
        </p:grpSpPr>
        <p:pic>
          <p:nvPicPr>
            <p:cNvPr id="6" name="Picture 8" descr="E:\设计\06-2018\前端5.0PPT\实例.png实例">
              <a:extLst>
                <a:ext uri="{FF2B5EF4-FFF2-40B4-BE49-F238E27FC236}">
                  <a16:creationId xmlns:a16="http://schemas.microsoft.com/office/drawing/2014/main" id="{C221F127-9FCA-48A5-85C9-8053E6350C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21965" y="2536466"/>
              <a:ext cx="414023" cy="4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1C09710C-7C5A-49B1-A9A8-0F4AAD9027CD}"/>
                </a:ext>
              </a:extLst>
            </p:cNvPr>
            <p:cNvSpPr txBox="1"/>
            <p:nvPr/>
          </p:nvSpPr>
          <p:spPr>
            <a:xfrm>
              <a:off x="1300140" y="2536783"/>
              <a:ext cx="700092" cy="398596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示例</a:t>
              </a:r>
            </a:p>
          </p:txBody>
        </p:sp>
      </p:grpSp>
      <p:sp>
        <p:nvSpPr>
          <p:cNvPr id="14" name="AutoShape 11">
            <a:extLst>
              <a:ext uri="{FF2B5EF4-FFF2-40B4-BE49-F238E27FC236}">
                <a16:creationId xmlns:a16="http://schemas.microsoft.com/office/drawing/2014/main" id="{BCF39EE1-725A-4B85-A2CA-4F8C3FC66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056" y="4974907"/>
            <a:ext cx="7108826" cy="906145"/>
          </a:xfrm>
          <a:prstGeom prst="roundRect">
            <a:avLst>
              <a:gd name="adj" fmla="val 16667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anchor="t">
            <a:noAutofit/>
          </a:bodyPr>
          <a:lstStyle/>
          <a:p>
            <a:pPr lvl="0"/>
            <a:r>
              <a:rPr lang="en-US" altLang="en-US" sz="2000" b="1" dirty="0">
                <a:latin typeface="微软雅黑" pitchFamily="34" charset="-122"/>
                <a:ea typeface="微软雅黑" pitchFamily="34" charset="-122"/>
              </a:rPr>
              <a:t>&lt;script&gt;…&lt;/script&gt;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可以包含在文档中的任何地方，只要保证这些代码在被使用前已读取并加载到内存即可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5" name="组合 68">
            <a:extLst>
              <a:ext uri="{FF2B5EF4-FFF2-40B4-BE49-F238E27FC236}">
                <a16:creationId xmlns:a16="http://schemas.microsoft.com/office/drawing/2014/main" id="{5B2836C8-AD81-4C0B-8331-13340D501E6C}"/>
              </a:ext>
            </a:extLst>
          </p:cNvPr>
          <p:cNvGrpSpPr/>
          <p:nvPr/>
        </p:nvGrpSpPr>
        <p:grpSpPr bwMode="auto">
          <a:xfrm>
            <a:off x="790575" y="5220494"/>
            <a:ext cx="1185229" cy="414338"/>
            <a:chOff x="872055" y="3950459"/>
            <a:chExt cx="1186068" cy="414475"/>
          </a:xfrm>
        </p:grpSpPr>
        <p:pic>
          <p:nvPicPr>
            <p:cNvPr id="16" name="Picture 1" descr="E:\设计\06-2018\前端5.0PPT\注意.png注意">
              <a:extLst>
                <a:ext uri="{FF2B5EF4-FFF2-40B4-BE49-F238E27FC236}">
                  <a16:creationId xmlns:a16="http://schemas.microsoft.com/office/drawing/2014/main" id="{3A3D8550-A928-422A-BD57-932818F65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72055" y="3950459"/>
              <a:ext cx="414313" cy="4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A90C1155-5CA9-4203-928F-75CCC6C77351}"/>
                </a:ext>
              </a:extLst>
            </p:cNvPr>
            <p:cNvSpPr txBox="1"/>
            <p:nvPr/>
          </p:nvSpPr>
          <p:spPr>
            <a:xfrm>
              <a:off x="1357540" y="3958400"/>
              <a:ext cx="700583" cy="398594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注意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36E75C-62C5-42F4-B6C0-9271D9855EB4}"/>
              </a:ext>
            </a:extLst>
          </p:cNvPr>
          <p:cNvGrpSpPr/>
          <p:nvPr/>
        </p:nvGrpSpPr>
        <p:grpSpPr>
          <a:xfrm>
            <a:off x="3686175" y="5999054"/>
            <a:ext cx="4424830" cy="582930"/>
            <a:chOff x="1488" y="2503"/>
            <a:chExt cx="6369" cy="918"/>
          </a:xfrm>
        </p:grpSpPr>
        <p:sp>
          <p:nvSpPr>
            <p:cNvPr id="19" name="圆角矩形 4">
              <a:extLst>
                <a:ext uri="{FF2B5EF4-FFF2-40B4-BE49-F238E27FC236}">
                  <a16:creationId xmlns:a16="http://schemas.microsoft.com/office/drawing/2014/main" id="{71B4863F-FE59-4CC1-B6AF-43A3508D3084}"/>
                </a:ext>
              </a:extLst>
            </p:cNvPr>
            <p:cNvSpPr/>
            <p:nvPr/>
          </p:nvSpPr>
          <p:spPr>
            <a:xfrm>
              <a:off x="1488" y="2503"/>
              <a:ext cx="6369" cy="918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28CAAB2-4AC7-4F4F-97B6-FAC142258FB9}"/>
                </a:ext>
              </a:extLst>
            </p:cNvPr>
            <p:cNvGrpSpPr/>
            <p:nvPr/>
          </p:nvGrpSpPr>
          <p:grpSpPr>
            <a:xfrm>
              <a:off x="1688" y="2598"/>
              <a:ext cx="6169" cy="737"/>
              <a:chOff x="1688" y="2598"/>
              <a:chExt cx="6169" cy="737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65C0169-7D55-4F11-8F81-EF9F043AF67F}"/>
                  </a:ext>
                </a:extLst>
              </p:cNvPr>
              <p:cNvSpPr txBox="1"/>
              <p:nvPr/>
            </p:nvSpPr>
            <p:spPr>
              <a:xfrm>
                <a:off x="2282" y="2648"/>
                <a:ext cx="557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演示示例</a:t>
                </a:r>
                <a:r>
                  <a:rPr lang="en-US" altLang="zh-CN"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初学</a:t>
                </a:r>
                <a:r>
                  <a:rPr lang="en-US" altLang="zh-CN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JavaScript</a:t>
                </a:r>
                <a:endParaRPr sz="2000" b="1" dirty="0">
                  <a:solidFill>
                    <a:srgbClr val="00C7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" name="组合 67">
                <a:extLst>
                  <a:ext uri="{FF2B5EF4-FFF2-40B4-BE49-F238E27FC236}">
                    <a16:creationId xmlns:a16="http://schemas.microsoft.com/office/drawing/2014/main" id="{955E4B61-F364-4ADB-89DC-7D5DD6DE6A21}"/>
                  </a:ext>
                </a:extLst>
              </p:cNvPr>
              <p:cNvGrpSpPr/>
              <p:nvPr/>
            </p:nvGrpSpPr>
            <p:grpSpPr bwMode="auto">
              <a:xfrm>
                <a:off x="1688" y="2598"/>
                <a:ext cx="1021" cy="737"/>
                <a:chOff x="6071563" y="1124092"/>
                <a:chExt cx="648178" cy="467999"/>
              </a:xfrm>
            </p:grpSpPr>
            <p:pic>
              <p:nvPicPr>
                <p:cNvPr id="23" name="Picture 13" descr="E:\设计\06-2018\前端5.0PPT\辅导.png辅导">
                  <a:extLst>
                    <a:ext uri="{FF2B5EF4-FFF2-40B4-BE49-F238E27FC236}">
                      <a16:creationId xmlns:a16="http://schemas.microsoft.com/office/drawing/2014/main" id="{89C37A3E-8A4A-4191-ACF4-350AF5B127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6071563" y="1124092"/>
                  <a:ext cx="468036" cy="467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" name="TextBox 53">
                  <a:extLst>
                    <a:ext uri="{FF2B5EF4-FFF2-40B4-BE49-F238E27FC236}">
                      <a16:creationId xmlns:a16="http://schemas.microsoft.com/office/drawing/2014/main" id="{48D9B25B-4C82-44E8-AB37-86327ACC1950}"/>
                    </a:ext>
                  </a:extLst>
                </p:cNvPr>
                <p:cNvSpPr txBox="1"/>
                <p:nvPr/>
              </p:nvSpPr>
              <p:spPr>
                <a:xfrm>
                  <a:off x="6409834" y="1171559"/>
                  <a:ext cx="309907" cy="398783"/>
                </a:xfrm>
                <a:prstGeom prst="rect">
                  <a:avLst/>
                </a:prstGeom>
                <a:noFill/>
                <a:effectLst>
                  <a:outerShdw blurRad="25400" dist="127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>
                    <a:defRPr/>
                  </a:pPr>
                  <a:endPara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139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04AFD-071D-458F-BF7B-8E42469B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的执行原理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D716BAF-CB24-4B3B-A138-195E016EAB6B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957087"/>
              </p:ext>
            </p:extLst>
          </p:nvPr>
        </p:nvGraphicFramePr>
        <p:xfrm>
          <a:off x="8947150" y="2565400"/>
          <a:ext cx="12255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Image" r:id="rId3" imgW="1225091" imgH="1962750" progId="">
                  <p:embed/>
                </p:oleObj>
              </mc:Choice>
              <mc:Fallback>
                <p:oleObj name="Image" r:id="rId3" imgW="1225091" imgH="1962750" progId="">
                  <p:embed/>
                  <p:pic>
                    <p:nvPicPr>
                      <p:cNvPr id="2867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7150" y="2565400"/>
                        <a:ext cx="12255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37DCF56B-E32C-42A5-A6D2-926B0F813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219" y="4708526"/>
            <a:ext cx="2265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黑体" pitchFamily="49" charset="-122"/>
                <a:ea typeface="黑体" pitchFamily="49" charset="-122"/>
              </a:rPr>
              <a:t>应用  服务器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F4419C-89EB-45F9-9B7A-441918590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9" y="2428876"/>
            <a:ext cx="50482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</a:rPr>
              <a:t>IE</a:t>
            </a: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8BE32B2D-20FE-4028-B3E5-7B47FBC5A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400" y="2774950"/>
            <a:ext cx="1824038" cy="776288"/>
          </a:xfrm>
          <a:prstGeom prst="wedgeRoundRectCallout">
            <a:avLst>
              <a:gd name="adj1" fmla="val -27364"/>
              <a:gd name="adj2" fmla="val 51607"/>
              <a:gd name="adj3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解析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HTML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标签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和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JavaScript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F1169E48-2B22-4EFF-9076-C72F8D39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838" y="4630739"/>
            <a:ext cx="2347912" cy="777875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从服务器端下载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含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JavaScript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的页面</a:t>
            </a:r>
          </a:p>
        </p:txBody>
      </p:sp>
      <p:cxnSp>
        <p:nvCxnSpPr>
          <p:cNvPr id="9" name="AutoShape 12">
            <a:extLst>
              <a:ext uri="{FF2B5EF4-FFF2-40B4-BE49-F238E27FC236}">
                <a16:creationId xmlns:a16="http://schemas.microsoft.com/office/drawing/2014/main" id="{60E20FA9-160A-40A5-A047-CFA54A634845}"/>
              </a:ext>
            </a:extLst>
          </p:cNvPr>
          <p:cNvCxnSpPr>
            <a:cxnSpLocks noChangeShapeType="1"/>
            <a:endCxn id="8" idx="1"/>
          </p:cNvCxnSpPr>
          <p:nvPr/>
        </p:nvCxnSpPr>
        <p:spPr bwMode="auto">
          <a:xfrm rot="16200000" flipH="1">
            <a:off x="4512873" y="4101682"/>
            <a:ext cx="1002554" cy="833438"/>
          </a:xfrm>
          <a:prstGeom prst="curvedConnector2">
            <a:avLst/>
          </a:prstGeom>
          <a:ln cmpd="sng">
            <a:solidFill>
              <a:srgbClr val="00C77A"/>
            </a:solidFill>
            <a:headEnd type="triangle"/>
            <a:tailEnd type="non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 Box 14">
            <a:extLst>
              <a:ext uri="{FF2B5EF4-FFF2-40B4-BE49-F238E27FC236}">
                <a16:creationId xmlns:a16="http://schemas.microsoft.com/office/drawing/2014/main" id="{F6C1E90D-EA05-4309-8593-880EEBD6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714" y="4300538"/>
            <a:ext cx="1404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黑体" pitchFamily="49" charset="-122"/>
                <a:ea typeface="黑体" pitchFamily="49" charset="-122"/>
              </a:rPr>
              <a:t>返回  响应</a:t>
            </a:r>
          </a:p>
        </p:txBody>
      </p:sp>
      <p:sp>
        <p:nvSpPr>
          <p:cNvPr id="11" name="AutoShape 15">
            <a:extLst>
              <a:ext uri="{FF2B5EF4-FFF2-40B4-BE49-F238E27FC236}">
                <a16:creationId xmlns:a16="http://schemas.microsoft.com/office/drawing/2014/main" id="{D29DB797-CF34-4BF2-8334-B4AEE039C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1" y="1765301"/>
            <a:ext cx="3006725" cy="409575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包含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JavaScript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的请求页面</a:t>
            </a:r>
          </a:p>
        </p:txBody>
      </p:sp>
      <p:cxnSp>
        <p:nvCxnSpPr>
          <p:cNvPr id="12" name="AutoShape 16">
            <a:extLst>
              <a:ext uri="{FF2B5EF4-FFF2-40B4-BE49-F238E27FC236}">
                <a16:creationId xmlns:a16="http://schemas.microsoft.com/office/drawing/2014/main" id="{12993ED7-F68C-418F-883A-238086358A99}"/>
              </a:ext>
            </a:extLst>
          </p:cNvPr>
          <p:cNvCxnSpPr>
            <a:cxnSpLocks noChangeShapeType="1"/>
            <a:endCxn id="11" idx="1"/>
          </p:cNvCxnSpPr>
          <p:nvPr/>
        </p:nvCxnSpPr>
        <p:spPr bwMode="auto">
          <a:xfrm rot="5400000" flipH="1" flipV="1">
            <a:off x="4458684" y="1629686"/>
            <a:ext cx="718025" cy="1399379"/>
          </a:xfrm>
          <a:prstGeom prst="curvedConnector2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 Box 18">
            <a:extLst>
              <a:ext uri="{FF2B5EF4-FFF2-40B4-BE49-F238E27FC236}">
                <a16:creationId xmlns:a16="http://schemas.microsoft.com/office/drawing/2014/main" id="{4DDF44CD-1A98-4B0C-BC03-2CA86E172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2259013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黑体" pitchFamily="49" charset="-122"/>
                <a:ea typeface="黑体" pitchFamily="49" charset="-122"/>
              </a:rPr>
              <a:t>发送  请求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2230A7DB-1E20-4265-B37D-30146679E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5" y="2901949"/>
            <a:ext cx="495266" cy="369889"/>
          </a:xfrm>
          <a:prstGeom prst="ellipse">
            <a:avLst/>
          </a:prstGeom>
          <a:solidFill>
            <a:srgbClr val="00C77A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2CEF9C22-D5A4-4315-8597-DD4B4601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1866912"/>
            <a:ext cx="469900" cy="392101"/>
          </a:xfrm>
          <a:prstGeom prst="ellipse">
            <a:avLst/>
          </a:prstGeom>
          <a:solidFill>
            <a:srgbClr val="00C77A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BCCDF227-F940-48F5-A895-42E6F78E7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4" y="4643438"/>
            <a:ext cx="503237" cy="431800"/>
          </a:xfrm>
          <a:prstGeom prst="ellipse">
            <a:avLst/>
          </a:prstGeom>
          <a:solidFill>
            <a:srgbClr val="00C77A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000" b="1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17" name="Picture 4" descr="C:\Users\jian.zhang\Desktop\安卓PPT模板demo\模拟器\3.png">
            <a:extLst>
              <a:ext uri="{FF2B5EF4-FFF2-40B4-BE49-F238E27FC236}">
                <a16:creationId xmlns:a16="http://schemas.microsoft.com/office/drawing/2014/main" id="{246EA370-FACB-4734-9D19-EA5414414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50" y="2687638"/>
            <a:ext cx="1898650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AutoShape 20">
            <a:extLst>
              <a:ext uri="{FF2B5EF4-FFF2-40B4-BE49-F238E27FC236}">
                <a16:creationId xmlns:a16="http://schemas.microsoft.com/office/drawing/2014/main" id="{E34CD6CD-CCDD-4346-ACBF-B71687CDC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3230564"/>
            <a:ext cx="1563688" cy="555625"/>
          </a:xfrm>
          <a:prstGeom prst="rightArrow">
            <a:avLst>
              <a:gd name="adj1" fmla="val 50000"/>
              <a:gd name="adj2" fmla="val 7035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  <a:headEnd/>
            <a:tailE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b="1" dirty="0">
                <a:ea typeface="宋体" charset="-122"/>
              </a:rPr>
              <a:t>浏览器输入</a:t>
            </a:r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68BFA10B-D7A5-4400-9338-A99B32839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2901950"/>
            <a:ext cx="142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IE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C54CCA5-F21A-4544-8924-1453C8D7D941}"/>
              </a:ext>
            </a:extLst>
          </p:cNvPr>
          <p:cNvCxnSpPr/>
          <p:nvPr/>
        </p:nvCxnSpPr>
        <p:spPr bwMode="auto">
          <a:xfrm>
            <a:off x="4952992" y="3194809"/>
            <a:ext cx="714380" cy="1588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Freeform 12">
            <a:extLst>
              <a:ext uri="{FF2B5EF4-FFF2-40B4-BE49-F238E27FC236}">
                <a16:creationId xmlns:a16="http://schemas.microsoft.com/office/drawing/2014/main" id="{21A8D726-C6C5-4FA2-B60D-ACA4CE69F3E7}"/>
              </a:ext>
            </a:extLst>
          </p:cNvPr>
          <p:cNvSpPr>
            <a:spLocks/>
          </p:cNvSpPr>
          <p:nvPr/>
        </p:nvSpPr>
        <p:spPr bwMode="auto">
          <a:xfrm rot="8643221">
            <a:off x="7749696" y="4441922"/>
            <a:ext cx="1859278" cy="803916"/>
          </a:xfrm>
          <a:prstGeom prst="arc">
            <a:avLst>
              <a:gd name="adj1" fmla="val 10930154"/>
              <a:gd name="adj2" fmla="val 287653"/>
            </a:avLst>
          </a:prstGeom>
          <a:ln cmpd="sng">
            <a:solidFill>
              <a:srgbClr val="00C77A"/>
            </a:solidFill>
            <a:headEnd type="non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 baseline="-25000" dirty="0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1993B066-3174-4C18-A175-49195330D4EA}"/>
              </a:ext>
            </a:extLst>
          </p:cNvPr>
          <p:cNvSpPr>
            <a:spLocks/>
          </p:cNvSpPr>
          <p:nvPr/>
        </p:nvSpPr>
        <p:spPr bwMode="auto">
          <a:xfrm rot="1356412">
            <a:off x="8467214" y="1911249"/>
            <a:ext cx="1085821" cy="672053"/>
          </a:xfrm>
          <a:prstGeom prst="arc">
            <a:avLst>
              <a:gd name="adj1" fmla="val 11385574"/>
              <a:gd name="adj2" fmla="val 17542"/>
            </a:avLst>
          </a:prstGeom>
          <a:ln cmpd="sng">
            <a:solidFill>
              <a:srgbClr val="00C77A"/>
            </a:solidFill>
            <a:headEnd type="non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53692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  <p:bldP spid="11" grpId="0" animBg="1"/>
      <p:bldP spid="13" grpId="0"/>
      <p:bldP spid="14" grpId="0" animBg="1"/>
      <p:bldP spid="15" grpId="0" animBg="1"/>
      <p:bldP spid="16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F1149-E4CF-4211-B7B5-6AD5DD70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网页中引用</a:t>
            </a:r>
            <a:r>
              <a:rPr lang="en-US" altLang="zh-CN" dirty="0"/>
              <a:t>JavaScript</a:t>
            </a:r>
            <a:r>
              <a:rPr lang="zh-CN" altLang="en-US" dirty="0"/>
              <a:t>的方式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FC0A7-6DF5-4568-B66C-466A78726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使用</a:t>
            </a:r>
            <a:r>
              <a:rPr lang="en-US" altLang="zh-CN" dirty="0"/>
              <a:t>&lt;script&gt;</a:t>
            </a:r>
            <a:r>
              <a:rPr lang="zh-CN" altLang="en-US" dirty="0"/>
              <a:t>标签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外部</a:t>
            </a:r>
            <a:r>
              <a:rPr lang="en-US" altLang="zh-CN" dirty="0"/>
              <a:t>JS</a:t>
            </a:r>
            <a:r>
              <a:rPr lang="zh-CN" altLang="en-US" dirty="0"/>
              <a:t>文件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直接在</a:t>
            </a:r>
            <a:r>
              <a:rPr lang="en-US" altLang="zh-CN" dirty="0"/>
              <a:t>HTML</a:t>
            </a:r>
            <a:r>
              <a:rPr lang="zh-CN" altLang="en-US" dirty="0"/>
              <a:t>标签中</a:t>
            </a:r>
          </a:p>
          <a:p>
            <a:endParaRPr lang="zh-CN" alt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691A62C-F62E-40C6-9ED3-0B5A53A0B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690" y="2912427"/>
            <a:ext cx="7321550" cy="516573"/>
          </a:xfrm>
          <a:prstGeom prst="roundRect">
            <a:avLst>
              <a:gd name="adj" fmla="val 0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marL="152400" defTabSz="1218565">
              <a:lnSpc>
                <a:spcPct val="150000"/>
              </a:lnSpc>
            </a:pPr>
            <a:r>
              <a:rPr lang="en-US" altLang="zh-CN" sz="2000" b="1" dirty="0">
                <a:ea typeface="宋体" charset="-122"/>
              </a:rPr>
              <a:t>&lt;script </a:t>
            </a:r>
            <a:r>
              <a:rPr lang="en-US" altLang="zh-CN" sz="2000" b="1" dirty="0" err="1">
                <a:ea typeface="宋体" charset="-122"/>
              </a:rPr>
              <a:t>src</a:t>
            </a:r>
            <a:r>
              <a:rPr lang="en-US" altLang="zh-CN" sz="2000" b="1" dirty="0">
                <a:ea typeface="宋体" charset="-122"/>
              </a:rPr>
              <a:t>="export.js"  type="text/</a:t>
            </a:r>
            <a:r>
              <a:rPr lang="en-US" altLang="zh-CN" sz="2000" b="1" dirty="0" err="1">
                <a:ea typeface="宋体" charset="-122"/>
              </a:rPr>
              <a:t>javascript</a:t>
            </a:r>
            <a:r>
              <a:rPr lang="en-US" altLang="zh-CN" sz="2000" b="1" dirty="0">
                <a:ea typeface="宋体" charset="-122"/>
              </a:rPr>
              <a:t>"&gt;&lt;/script&gt;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B56BF9E-1793-4F48-BF0D-755A6574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690" y="4334817"/>
            <a:ext cx="7321550" cy="908050"/>
          </a:xfrm>
          <a:prstGeom prst="roundRect">
            <a:avLst>
              <a:gd name="adj" fmla="val 0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no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000" b="1" dirty="0">
                <a:ea typeface="宋体" charset="-122"/>
              </a:rPr>
              <a:t>   &lt;input name="</a:t>
            </a:r>
            <a:r>
              <a:rPr lang="en-US" altLang="zh-CN" sz="2000" b="1" dirty="0" err="1">
                <a:ea typeface="宋体" charset="-122"/>
              </a:rPr>
              <a:t>btn</a:t>
            </a:r>
            <a:r>
              <a:rPr lang="en-US" altLang="zh-CN" sz="2000" b="1" dirty="0">
                <a:ea typeface="宋体" charset="-122"/>
              </a:rPr>
              <a:t>" type="button" value="</a:t>
            </a:r>
            <a:r>
              <a:rPr lang="zh-CN" altLang="en-US" sz="2000" b="1" dirty="0">
                <a:ea typeface="宋体" charset="-122"/>
              </a:rPr>
              <a:t>弹出消息框</a:t>
            </a:r>
            <a:r>
              <a:rPr lang="en-US" altLang="zh-CN" sz="2000" b="1" dirty="0">
                <a:ea typeface="宋体" charset="-122"/>
              </a:rPr>
              <a:t>" onclick="</a:t>
            </a:r>
            <a:r>
              <a:rPr lang="en-US" altLang="zh-CN" sz="2000" b="1" dirty="0" err="1">
                <a:solidFill>
                  <a:srgbClr val="FF0000"/>
                </a:solidFill>
                <a:ea typeface="宋体" charset="-122"/>
              </a:rPr>
              <a:t>javascript:alert</a:t>
            </a:r>
            <a:r>
              <a:rPr lang="en-US" altLang="zh-CN" sz="2000" b="1" dirty="0">
                <a:solidFill>
                  <a:srgbClr val="FF0000"/>
                </a:solidFill>
                <a:ea typeface="宋体" charset="-122"/>
              </a:rPr>
              <a:t>('</a:t>
            </a:r>
            <a:r>
              <a:rPr lang="zh-CN" altLang="en-US" sz="2000" b="1" dirty="0">
                <a:solidFill>
                  <a:srgbClr val="FF0000"/>
                </a:solidFill>
                <a:ea typeface="宋体" charset="-122"/>
              </a:rPr>
              <a:t>欢迎你</a:t>
            </a:r>
            <a:r>
              <a:rPr lang="en-US" altLang="zh-CN" sz="2000" b="1" dirty="0">
                <a:solidFill>
                  <a:srgbClr val="FF0000"/>
                </a:solidFill>
                <a:ea typeface="宋体" charset="-122"/>
              </a:rPr>
              <a:t>');"/&gt;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4FB1A38-B681-4FED-A084-61A73E4A7C6A}"/>
              </a:ext>
            </a:extLst>
          </p:cNvPr>
          <p:cNvGrpSpPr/>
          <p:nvPr/>
        </p:nvGrpSpPr>
        <p:grpSpPr>
          <a:xfrm>
            <a:off x="2905050" y="5999054"/>
            <a:ext cx="5187660" cy="582930"/>
            <a:chOff x="1488" y="2503"/>
            <a:chExt cx="7467" cy="9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A76F2B85-98F8-4E8C-A199-023C59EC6127}"/>
                </a:ext>
              </a:extLst>
            </p:cNvPr>
            <p:cNvSpPr/>
            <p:nvPr/>
          </p:nvSpPr>
          <p:spPr>
            <a:xfrm>
              <a:off x="1488" y="2503"/>
              <a:ext cx="7467" cy="918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0438FD2-81C7-442D-B953-0404E39BE264}"/>
                </a:ext>
              </a:extLst>
            </p:cNvPr>
            <p:cNvGrpSpPr/>
            <p:nvPr/>
          </p:nvGrpSpPr>
          <p:grpSpPr>
            <a:xfrm>
              <a:off x="1688" y="2598"/>
              <a:ext cx="7267" cy="737"/>
              <a:chOff x="1688" y="2598"/>
              <a:chExt cx="7267" cy="737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353431-56D6-4AAD-944F-14C1DA82AC5F}"/>
                  </a:ext>
                </a:extLst>
              </p:cNvPr>
              <p:cNvSpPr txBox="1"/>
              <p:nvPr/>
            </p:nvSpPr>
            <p:spPr>
              <a:xfrm>
                <a:off x="2282" y="2648"/>
                <a:ext cx="6673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演示示例</a:t>
                </a:r>
                <a:r>
                  <a:rPr lang="en-US" altLang="zh-CN"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外部</a:t>
                </a:r>
                <a:r>
                  <a:rPr lang="en-US" altLang="zh-CN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JavaScript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文件</a:t>
                </a:r>
              </a:p>
            </p:txBody>
          </p:sp>
          <p:grpSp>
            <p:nvGrpSpPr>
              <p:cNvPr id="11" name="组合 67">
                <a:extLst>
                  <a:ext uri="{FF2B5EF4-FFF2-40B4-BE49-F238E27FC236}">
                    <a16:creationId xmlns:a16="http://schemas.microsoft.com/office/drawing/2014/main" id="{3576EB8A-FF1D-4925-9406-BE4DAEA9DEA9}"/>
                  </a:ext>
                </a:extLst>
              </p:cNvPr>
              <p:cNvGrpSpPr/>
              <p:nvPr/>
            </p:nvGrpSpPr>
            <p:grpSpPr bwMode="auto">
              <a:xfrm>
                <a:off x="1688" y="2598"/>
                <a:ext cx="1021" cy="737"/>
                <a:chOff x="6071563" y="1124092"/>
                <a:chExt cx="648178" cy="467999"/>
              </a:xfrm>
            </p:grpSpPr>
            <p:pic>
              <p:nvPicPr>
                <p:cNvPr id="12" name="Picture 13" descr="E:\设计\06-2018\前端5.0PPT\辅导.png辅导">
                  <a:extLst>
                    <a:ext uri="{FF2B5EF4-FFF2-40B4-BE49-F238E27FC236}">
                      <a16:creationId xmlns:a16="http://schemas.microsoft.com/office/drawing/2014/main" id="{3CA7DD1A-81EC-4F15-92CE-DD4693CAE5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6071563" y="1124092"/>
                  <a:ext cx="468036" cy="467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" name="TextBox 53">
                  <a:extLst>
                    <a:ext uri="{FF2B5EF4-FFF2-40B4-BE49-F238E27FC236}">
                      <a16:creationId xmlns:a16="http://schemas.microsoft.com/office/drawing/2014/main" id="{9473FD4D-4648-4302-866F-7267F6CEE782}"/>
                    </a:ext>
                  </a:extLst>
                </p:cNvPr>
                <p:cNvSpPr txBox="1"/>
                <p:nvPr/>
              </p:nvSpPr>
              <p:spPr>
                <a:xfrm>
                  <a:off x="6409834" y="1171559"/>
                  <a:ext cx="309907" cy="398783"/>
                </a:xfrm>
                <a:prstGeom prst="rect">
                  <a:avLst/>
                </a:prstGeom>
                <a:noFill/>
                <a:effectLst>
                  <a:outerShdw blurRad="25400" dist="127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>
                    <a:defRPr/>
                  </a:pPr>
                  <a:endPara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6918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D2458-7E4D-43E9-8158-26325BAB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</a:t>
            </a:r>
            <a:r>
              <a:rPr lang="zh-CN" altLang="en-US" dirty="0"/>
              <a:t>核心语法</a:t>
            </a:r>
          </a:p>
        </p:txBody>
      </p:sp>
      <p:sp>
        <p:nvSpPr>
          <p:cNvPr id="4" name="圆角矩形 14">
            <a:extLst>
              <a:ext uri="{FF2B5EF4-FFF2-40B4-BE49-F238E27FC236}">
                <a16:creationId xmlns:a16="http://schemas.microsoft.com/office/drawing/2014/main" id="{B3ADAB25-1627-4117-A506-5DEA96A04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740" y="1573421"/>
            <a:ext cx="1439863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数据类型</a:t>
            </a:r>
          </a:p>
        </p:txBody>
      </p:sp>
      <p:sp>
        <p:nvSpPr>
          <p:cNvPr id="5" name="圆角矩形 15">
            <a:extLst>
              <a:ext uri="{FF2B5EF4-FFF2-40B4-BE49-F238E27FC236}">
                <a16:creationId xmlns:a16="http://schemas.microsoft.com/office/drawing/2014/main" id="{C1D6D2D5-501F-4FF9-B125-9DD79DE12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302" y="1152734"/>
            <a:ext cx="1439862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变量</a:t>
            </a:r>
          </a:p>
        </p:txBody>
      </p:sp>
      <p:sp>
        <p:nvSpPr>
          <p:cNvPr id="6" name="圆角矩形 16">
            <a:extLst>
              <a:ext uri="{FF2B5EF4-FFF2-40B4-BE49-F238E27FC236}">
                <a16:creationId xmlns:a16="http://schemas.microsoft.com/office/drawing/2014/main" id="{A6886BF3-80B4-4ACF-8B1B-98AD7F4B0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990" y="1724234"/>
            <a:ext cx="1439863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语法约定</a:t>
            </a:r>
          </a:p>
        </p:txBody>
      </p:sp>
      <p:sp>
        <p:nvSpPr>
          <p:cNvPr id="7" name="圆角矩形 17">
            <a:extLst>
              <a:ext uri="{FF2B5EF4-FFF2-40B4-BE49-F238E27FC236}">
                <a16:creationId xmlns:a16="http://schemas.microsoft.com/office/drawing/2014/main" id="{883103E5-21B4-41F4-8AE4-AFD4C122B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65" y="5153234"/>
            <a:ext cx="1439863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注释</a:t>
            </a:r>
          </a:p>
        </p:txBody>
      </p:sp>
      <p:sp>
        <p:nvSpPr>
          <p:cNvPr id="8" name="圆角矩形 18">
            <a:extLst>
              <a:ext uri="{FF2B5EF4-FFF2-40B4-BE49-F238E27FC236}">
                <a16:creationId xmlns:a16="http://schemas.microsoft.com/office/drawing/2014/main" id="{E61BC50C-E953-4764-94A4-502C15949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27" y="5502484"/>
            <a:ext cx="1439862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 lang="en-US" altLang="zh-CN" sz="2000" b="1" dirty="0">
              <a:solidFill>
                <a:schemeClr val="bg1"/>
              </a:solidFill>
              <a:ea typeface="黑体" pitchFamily="2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控制语句</a:t>
            </a:r>
          </a:p>
          <a:p>
            <a:pPr algn="ctr"/>
            <a:endParaRPr lang="zh-CN" altLang="en-US" sz="2000" b="1" dirty="0">
              <a:solidFill>
                <a:schemeClr val="bg1"/>
              </a:solidFill>
              <a:ea typeface="黑体" pitchFamily="2" charset="-122"/>
            </a:endParaRPr>
          </a:p>
        </p:txBody>
      </p:sp>
      <p:sp>
        <p:nvSpPr>
          <p:cNvPr id="9" name="圆角矩形 19">
            <a:extLst>
              <a:ext uri="{FF2B5EF4-FFF2-40B4-BE49-F238E27FC236}">
                <a16:creationId xmlns:a16="http://schemas.microsoft.com/office/drawing/2014/main" id="{A877AD9E-0D35-4F6D-AB8E-5AC457ED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615" y="5153234"/>
            <a:ext cx="1439863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运算符号</a:t>
            </a:r>
          </a:p>
        </p:txBody>
      </p:sp>
      <p:sp>
        <p:nvSpPr>
          <p:cNvPr id="10" name="圆角矩形 20">
            <a:extLst>
              <a:ext uri="{FF2B5EF4-FFF2-40B4-BE49-F238E27FC236}">
                <a16:creationId xmlns:a16="http://schemas.microsoft.com/office/drawing/2014/main" id="{9D67B9FB-1B4D-44F1-9AF8-2204C4E31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365" y="3510171"/>
            <a:ext cx="1439863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数组</a:t>
            </a:r>
          </a:p>
        </p:txBody>
      </p:sp>
      <p:cxnSp>
        <p:nvCxnSpPr>
          <p:cNvPr id="11" name="直接箭头连接符 22">
            <a:extLst>
              <a:ext uri="{FF2B5EF4-FFF2-40B4-BE49-F238E27FC236}">
                <a16:creationId xmlns:a16="http://schemas.microsoft.com/office/drawing/2014/main" id="{E86EBADC-C39E-4D0B-A266-1B1CB106388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111008" y="2625140"/>
            <a:ext cx="785812" cy="0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24">
            <a:extLst>
              <a:ext uri="{FF2B5EF4-FFF2-40B4-BE49-F238E27FC236}">
                <a16:creationId xmlns:a16="http://schemas.microsoft.com/office/drawing/2014/main" id="{F51FB16B-33E2-49FC-BB9C-51275407DEF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94490" y="2581484"/>
            <a:ext cx="785813" cy="571500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6">
            <a:extLst>
              <a:ext uri="{FF2B5EF4-FFF2-40B4-BE49-F238E27FC236}">
                <a16:creationId xmlns:a16="http://schemas.microsoft.com/office/drawing/2014/main" id="{864459AC-5441-4A10-BD06-89ED65CB6650}"/>
              </a:ext>
            </a:extLst>
          </p:cNvPr>
          <p:cNvCxnSpPr>
            <a:cxnSpLocks noChangeShapeType="1"/>
            <a:stCxn id="20" idx="3"/>
            <a:endCxn id="10" idx="1"/>
          </p:cNvCxnSpPr>
          <p:nvPr/>
        </p:nvCxnSpPr>
        <p:spPr bwMode="auto">
          <a:xfrm>
            <a:off x="6365928" y="3802271"/>
            <a:ext cx="1214437" cy="247650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28">
            <a:extLst>
              <a:ext uri="{FF2B5EF4-FFF2-40B4-BE49-F238E27FC236}">
                <a16:creationId xmlns:a16="http://schemas.microsoft.com/office/drawing/2014/main" id="{89382D62-7DC8-445A-A522-D518F27FA4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3052" y="4510297"/>
            <a:ext cx="1071562" cy="714375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30">
            <a:extLst>
              <a:ext uri="{FF2B5EF4-FFF2-40B4-BE49-F238E27FC236}">
                <a16:creationId xmlns:a16="http://schemas.microsoft.com/office/drawing/2014/main" id="{B51D0770-269E-4C0B-B248-26A47CDB12B5}"/>
              </a:ext>
            </a:extLst>
          </p:cNvPr>
          <p:cNvCxnSpPr>
            <a:cxnSpLocks noChangeShapeType="1"/>
            <a:stCxn id="20" idx="2"/>
          </p:cNvCxnSpPr>
          <p:nvPr/>
        </p:nvCxnSpPr>
        <p:spPr bwMode="auto">
          <a:xfrm rot="5400000">
            <a:off x="5017346" y="5007978"/>
            <a:ext cx="977900" cy="4763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32">
            <a:extLst>
              <a:ext uri="{FF2B5EF4-FFF2-40B4-BE49-F238E27FC236}">
                <a16:creationId xmlns:a16="http://schemas.microsoft.com/office/drawing/2014/main" id="{6A3A52A0-EF45-4522-9716-90CA1650A57F}"/>
              </a:ext>
            </a:extLst>
          </p:cNvPr>
          <p:cNvCxnSpPr>
            <a:cxnSpLocks noChangeShapeType="1"/>
            <a:stCxn id="20" idx="1"/>
          </p:cNvCxnSpPr>
          <p:nvPr/>
        </p:nvCxnSpPr>
        <p:spPr bwMode="auto">
          <a:xfrm rot="10800000" flipV="1">
            <a:off x="3579865" y="3800684"/>
            <a:ext cx="1071563" cy="209550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34">
            <a:extLst>
              <a:ext uri="{FF2B5EF4-FFF2-40B4-BE49-F238E27FC236}">
                <a16:creationId xmlns:a16="http://schemas.microsoft.com/office/drawing/2014/main" id="{47501764-773A-4FE5-9D9B-21B674E1F53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794178" y="2724360"/>
            <a:ext cx="928687" cy="428625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32">
            <a:extLst>
              <a:ext uri="{FF2B5EF4-FFF2-40B4-BE49-F238E27FC236}">
                <a16:creationId xmlns:a16="http://schemas.microsoft.com/office/drawing/2014/main" id="{190DEBA4-79FE-48EF-A722-D4F6844A54D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865605" y="4510297"/>
            <a:ext cx="928687" cy="714375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5B4C35F0-A6DB-43FF-933F-4789214E1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77" y="3581609"/>
            <a:ext cx="1439862" cy="10795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algn="ctr">
            <a:solidFill>
              <a:srgbClr val="00C77A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输入</a:t>
            </a:r>
            <a:r>
              <a:rPr lang="en-US" altLang="zh-CN" sz="2000" b="1" dirty="0">
                <a:solidFill>
                  <a:schemeClr val="bg1"/>
                </a:solidFill>
                <a:ea typeface="黑体" pitchFamily="2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ea typeface="黑体" pitchFamily="2" charset="-122"/>
              </a:rPr>
              <a:t>输出</a:t>
            </a:r>
          </a:p>
        </p:txBody>
      </p:sp>
      <p:sp>
        <p:nvSpPr>
          <p:cNvPr id="20" name="圆角矩形 13">
            <a:extLst>
              <a:ext uri="{FF2B5EF4-FFF2-40B4-BE49-F238E27FC236}">
                <a16:creationId xmlns:a16="http://schemas.microsoft.com/office/drawing/2014/main" id="{B0AF2BD6-0286-4379-A232-D440A9DB2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427" y="3081547"/>
            <a:ext cx="1714500" cy="143986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C77A"/>
            </a:solidFill>
          </a:ln>
        </p:spPr>
        <p:txBody>
          <a:bodyPr anchor="ctr"/>
          <a:lstStyle/>
          <a:p>
            <a:pPr algn="ctr">
              <a:defRPr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243019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A4879-5F06-43E8-8BC0-0ED99B11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8C71A-9507-4333-A849-1485E1736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先声明变量再赋值</a:t>
            </a:r>
          </a:p>
          <a:p>
            <a:pPr lvl="1"/>
            <a:endParaRPr lang="en-US" altLang="zh-CN" sz="3200" dirty="0"/>
          </a:p>
          <a:p>
            <a:pPr lvl="1"/>
            <a:r>
              <a:rPr lang="zh-CN" altLang="en-US" dirty="0"/>
              <a:t>同时声明和赋值变量</a:t>
            </a:r>
            <a:endParaRPr lang="en-US" altLang="zh-CN" dirty="0"/>
          </a:p>
          <a:p>
            <a:pPr lvl="2"/>
            <a:endParaRPr lang="zh-CN" altLang="en-US" dirty="0"/>
          </a:p>
          <a:p>
            <a:pPr lvl="3"/>
            <a:endParaRPr lang="en-US" altLang="zh-CN" sz="2470" dirty="0">
              <a:solidFill>
                <a:schemeClr val="tx1"/>
              </a:solidFill>
            </a:endParaRPr>
          </a:p>
          <a:p>
            <a:pPr lvl="1"/>
            <a:r>
              <a:rPr lang="zh-CN" altLang="en-US" dirty="0"/>
              <a:t>不声明直接赋值</a:t>
            </a:r>
          </a:p>
          <a:p>
            <a:pPr lvl="1"/>
            <a:endParaRPr lang="zh-CN" altLang="en-US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C1F66F6-3A27-462D-A4AD-1EB720BF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2567" y="2112855"/>
            <a:ext cx="3643312" cy="788987"/>
          </a:xfrm>
          <a:prstGeom prst="roundRect">
            <a:avLst>
              <a:gd name="adj" fmla="val 1812"/>
            </a:avLst>
          </a:prstGeom>
          <a:solidFill>
            <a:srgbClr val="00C77A"/>
          </a:solidFill>
          <a:ln w="9525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 marL="2857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err="1">
                <a:solidFill>
                  <a:schemeClr val="bg1"/>
                </a:solidFill>
                <a:latin typeface="Arial"/>
                <a:ea typeface="黑体"/>
              </a:rPr>
              <a:t>var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 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－  用于声明变量的关键字</a:t>
            </a:r>
          </a:p>
          <a:p>
            <a:pPr marL="2857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width 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－ 变量名</a:t>
            </a:r>
          </a:p>
        </p:txBody>
      </p:sp>
      <p:sp>
        <p:nvSpPr>
          <p:cNvPr id="13" name="AutoShape 50">
            <a:extLst>
              <a:ext uri="{FF2B5EF4-FFF2-40B4-BE49-F238E27FC236}">
                <a16:creationId xmlns:a16="http://schemas.microsoft.com/office/drawing/2014/main" id="{63381FB7-88C9-4D38-AB87-0C14FC7BB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485" y="2119626"/>
            <a:ext cx="2464594" cy="830997"/>
          </a:xfrm>
          <a:prstGeom prst="roundRect">
            <a:avLst>
              <a:gd name="adj" fmla="val 38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 err="1">
                <a:ea typeface="黑体" pitchFamily="2" charset="-122"/>
              </a:rPr>
              <a:t>var</a:t>
            </a:r>
            <a:r>
              <a:rPr lang="en-US" altLang="zh-CN" sz="2400" b="1" dirty="0">
                <a:ea typeface="黑体" pitchFamily="2" charset="-122"/>
              </a:rPr>
              <a:t>   width;</a:t>
            </a:r>
          </a:p>
          <a:p>
            <a:pPr>
              <a:defRPr/>
            </a:pPr>
            <a:r>
              <a:rPr lang="en-US" altLang="zh-CN" sz="2400" b="1" dirty="0">
                <a:ea typeface="黑体" pitchFamily="2" charset="-122"/>
              </a:rPr>
              <a:t>width = 5;</a:t>
            </a:r>
          </a:p>
        </p:txBody>
      </p:sp>
      <p:sp>
        <p:nvSpPr>
          <p:cNvPr id="14" name="AutoShape 50">
            <a:extLst>
              <a:ext uri="{FF2B5EF4-FFF2-40B4-BE49-F238E27FC236}">
                <a16:creationId xmlns:a16="http://schemas.microsoft.com/office/drawing/2014/main" id="{254498AF-DECD-4C77-B7E8-8BCD5D656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485" y="3762149"/>
            <a:ext cx="4345730" cy="830997"/>
          </a:xfrm>
          <a:prstGeom prst="roundRect">
            <a:avLst>
              <a:gd name="adj" fmla="val 38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 err="1">
                <a:ea typeface="黑体" pitchFamily="2" charset="-122"/>
              </a:rPr>
              <a:t>var</a:t>
            </a:r>
            <a:r>
              <a:rPr lang="en-US" altLang="zh-CN" sz="2400" b="1" dirty="0">
                <a:ea typeface="黑体" pitchFamily="2" charset="-122"/>
              </a:rPr>
              <a:t> </a:t>
            </a:r>
            <a:r>
              <a:rPr lang="en-US" altLang="zh-CN" sz="2400" b="1" dirty="0" err="1">
                <a:ea typeface="黑体" pitchFamily="2" charset="-122"/>
              </a:rPr>
              <a:t>catName</a:t>
            </a:r>
            <a:r>
              <a:rPr lang="en-US" altLang="zh-CN" sz="2400" b="1" dirty="0">
                <a:ea typeface="黑体" pitchFamily="2" charset="-122"/>
              </a:rPr>
              <a:t>= "</a:t>
            </a:r>
            <a:r>
              <a:rPr lang="zh-CN" altLang="en-US" sz="2400" b="1" dirty="0">
                <a:ea typeface="黑体" pitchFamily="2" charset="-122"/>
              </a:rPr>
              <a:t>皮皮</a:t>
            </a:r>
            <a:r>
              <a:rPr lang="en-US" altLang="zh-CN" sz="2400" b="1" dirty="0">
                <a:ea typeface="黑体" pitchFamily="2" charset="-122"/>
              </a:rPr>
              <a:t>";</a:t>
            </a:r>
          </a:p>
          <a:p>
            <a:pPr>
              <a:defRPr/>
            </a:pPr>
            <a:r>
              <a:rPr lang="en-US" altLang="zh-CN" sz="2400" b="1" dirty="0" err="1">
                <a:ea typeface="黑体" pitchFamily="2" charset="-122"/>
              </a:rPr>
              <a:t>var</a:t>
            </a:r>
            <a:r>
              <a:rPr lang="en-US" altLang="zh-CN" sz="2400" b="1" dirty="0">
                <a:ea typeface="黑体" pitchFamily="2" charset="-122"/>
              </a:rPr>
              <a:t> x, y, z = 10;</a:t>
            </a:r>
          </a:p>
        </p:txBody>
      </p:sp>
      <p:sp>
        <p:nvSpPr>
          <p:cNvPr id="15" name="AutoShape 50">
            <a:extLst>
              <a:ext uri="{FF2B5EF4-FFF2-40B4-BE49-F238E27FC236}">
                <a16:creationId xmlns:a16="http://schemas.microsoft.com/office/drawing/2014/main" id="{BBDDFF78-2F19-491D-9DDC-EE77F5844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485" y="5319067"/>
            <a:ext cx="3219053" cy="461665"/>
          </a:xfrm>
          <a:prstGeom prst="roundRect">
            <a:avLst>
              <a:gd name="adj" fmla="val 38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ea typeface="黑体" pitchFamily="2" charset="-122"/>
              </a:rPr>
              <a:t>width=5;</a:t>
            </a:r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DBC0A996-0A06-4C36-9EB0-0A9165A42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488" y="6015951"/>
            <a:ext cx="4726853" cy="726550"/>
          </a:xfrm>
          <a:prstGeom prst="roundRect">
            <a:avLst>
              <a:gd name="adj" fmla="val 16667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anchor="t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变量可以不经声明而直接使用，但这种方法很容易出错，也很难查找排错，不推荐使用</a:t>
            </a:r>
          </a:p>
        </p:txBody>
      </p:sp>
      <p:grpSp>
        <p:nvGrpSpPr>
          <p:cNvPr id="17" name="组合 57">
            <a:extLst>
              <a:ext uri="{FF2B5EF4-FFF2-40B4-BE49-F238E27FC236}">
                <a16:creationId xmlns:a16="http://schemas.microsoft.com/office/drawing/2014/main" id="{BC1F4BBF-9C18-438C-8AE4-244BD8DF797E}"/>
              </a:ext>
            </a:extLst>
          </p:cNvPr>
          <p:cNvGrpSpPr/>
          <p:nvPr/>
        </p:nvGrpSpPr>
        <p:grpSpPr bwMode="auto">
          <a:xfrm>
            <a:off x="1860485" y="6156583"/>
            <a:ext cx="1063308" cy="400050"/>
            <a:chOff x="3565642" y="3143248"/>
            <a:chExt cx="1064249" cy="400110"/>
          </a:xfrm>
        </p:grpSpPr>
        <p:sp>
          <p:nvSpPr>
            <p:cNvPr id="18" name="TextBox 35">
              <a:extLst>
                <a:ext uri="{FF2B5EF4-FFF2-40B4-BE49-F238E27FC236}">
                  <a16:creationId xmlns:a16="http://schemas.microsoft.com/office/drawing/2014/main" id="{B82070DF-2CC9-4F33-921F-9548BDE0A369}"/>
                </a:ext>
              </a:extLst>
            </p:cNvPr>
            <p:cNvSpPr txBox="1"/>
            <p:nvPr/>
          </p:nvSpPr>
          <p:spPr>
            <a:xfrm>
              <a:off x="3929183" y="3143248"/>
              <a:ext cx="700708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经验</a:t>
              </a:r>
            </a:p>
          </p:txBody>
        </p:sp>
        <p:pic>
          <p:nvPicPr>
            <p:cNvPr id="19" name="Picture 1" descr="E:\设计\06-2018\前端5.0PPT\历史.png历史">
              <a:extLst>
                <a:ext uri="{FF2B5EF4-FFF2-40B4-BE49-F238E27FC236}">
                  <a16:creationId xmlns:a16="http://schemas.microsoft.com/office/drawing/2014/main" id="{3E08B426-7670-469D-B1AF-C04EE38D22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65642" y="3176908"/>
              <a:ext cx="361635" cy="361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2483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1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8AFF2-552B-4B88-ADB6-E2E205BE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数据类型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101416B-7B39-4FAD-B974-01A109AF99C5}"/>
              </a:ext>
            </a:extLst>
          </p:cNvPr>
          <p:cNvSpPr txBox="1">
            <a:spLocks/>
          </p:cNvSpPr>
          <p:nvPr/>
        </p:nvSpPr>
        <p:spPr>
          <a:xfrm>
            <a:off x="732790" y="1231056"/>
            <a:ext cx="3355727" cy="514350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数据类型</a:t>
            </a:r>
            <a:endParaRPr lang="en-US" altLang="zh-CN" sz="2800" dirty="0"/>
          </a:p>
          <a:p>
            <a:pPr lvl="1">
              <a:lnSpc>
                <a:spcPct val="200000"/>
              </a:lnSpc>
              <a:defRPr/>
            </a:pPr>
            <a:r>
              <a:rPr lang="en-US" altLang="zh-CN" sz="2600" dirty="0"/>
              <a:t>Undefined</a:t>
            </a:r>
          </a:p>
          <a:p>
            <a:pPr lvl="1">
              <a:lnSpc>
                <a:spcPct val="200000"/>
              </a:lnSpc>
              <a:defRPr/>
            </a:pPr>
            <a:r>
              <a:rPr lang="en-US" altLang="zh-CN" sz="2600" dirty="0"/>
              <a:t>null</a:t>
            </a:r>
          </a:p>
          <a:p>
            <a:pPr lvl="1">
              <a:lnSpc>
                <a:spcPct val="200000"/>
              </a:lnSpc>
              <a:defRPr/>
            </a:pPr>
            <a:r>
              <a:rPr lang="en-US" altLang="zh-CN" sz="2600" dirty="0"/>
              <a:t>number</a:t>
            </a:r>
          </a:p>
          <a:p>
            <a:pPr lvl="1">
              <a:lnSpc>
                <a:spcPct val="200000"/>
              </a:lnSpc>
              <a:defRPr/>
            </a:pPr>
            <a:r>
              <a:rPr lang="en-US" altLang="zh-CN" sz="2600" dirty="0" err="1"/>
              <a:t>boolean</a:t>
            </a:r>
            <a:endParaRPr lang="en-US" altLang="zh-CN" sz="2600" dirty="0"/>
          </a:p>
          <a:p>
            <a:pPr lvl="1">
              <a:lnSpc>
                <a:spcPct val="200000"/>
              </a:lnSpc>
              <a:defRPr/>
            </a:pPr>
            <a:r>
              <a:rPr lang="en-US" altLang="zh-CN" sz="2600" dirty="0"/>
              <a:t>string</a:t>
            </a:r>
          </a:p>
          <a:p>
            <a:pPr lvl="1">
              <a:defRPr/>
            </a:pPr>
            <a:endParaRPr lang="en-US" altLang="zh-CN" dirty="0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1F66B6D8-3ECB-4577-9913-5A76BE22C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8516" y="2090192"/>
            <a:ext cx="5072063" cy="788988"/>
          </a:xfrm>
          <a:prstGeom prst="roundRect">
            <a:avLst>
              <a:gd name="adj" fmla="val 1812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 marL="2857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fr-FR" altLang="en-US" b="1" kern="0" dirty="0">
                <a:solidFill>
                  <a:schemeClr val="bg1"/>
                </a:solidFill>
                <a:latin typeface="Arial"/>
                <a:ea typeface="黑体"/>
              </a:rPr>
              <a:t>var width;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变量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width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没有初始值，将被赋予值</a:t>
            </a:r>
            <a:r>
              <a:rPr lang="en-US" altLang="zh-CN" b="1" kern="0" dirty="0">
                <a:solidFill>
                  <a:schemeClr val="bg1"/>
                </a:solidFill>
                <a:latin typeface="Arial"/>
                <a:ea typeface="黑体"/>
              </a:rPr>
              <a:t>undefined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B5C6360-4CAC-43C5-B62A-08EB423B1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68" y="3738316"/>
            <a:ext cx="5072063" cy="642937"/>
          </a:xfrm>
          <a:prstGeom prst="roundRect">
            <a:avLst>
              <a:gd name="adj" fmla="val 1812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>
              <a:defRPr/>
            </a:pPr>
            <a:endParaRPr lang="en-US" altLang="en-US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>
              <a:defRPr/>
            </a:pPr>
            <a:r>
              <a:rPr lang="en-US" altLang="en-US" b="1" kern="0" dirty="0" err="1">
                <a:solidFill>
                  <a:schemeClr val="bg1"/>
                </a:solidFill>
                <a:latin typeface="Arial"/>
                <a:ea typeface="黑体"/>
              </a:rPr>
              <a:t>var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 </a:t>
            </a:r>
            <a:r>
              <a:rPr lang="en-US" altLang="en-US" b="1" kern="0" dirty="0" err="1">
                <a:solidFill>
                  <a:schemeClr val="bg1"/>
                </a:solidFill>
                <a:latin typeface="Arial"/>
                <a:ea typeface="黑体"/>
              </a:rPr>
              <a:t>iNum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=23;   //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整数</a:t>
            </a:r>
          </a:p>
          <a:p>
            <a:pPr>
              <a:defRPr/>
            </a:pPr>
            <a:r>
              <a:rPr lang="en-US" altLang="en-US" b="1" kern="0" dirty="0" err="1">
                <a:solidFill>
                  <a:schemeClr val="bg1"/>
                </a:solidFill>
                <a:latin typeface="Arial"/>
                <a:ea typeface="黑体"/>
              </a:rPr>
              <a:t>var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 </a:t>
            </a:r>
            <a:r>
              <a:rPr lang="en-US" altLang="en-US" b="1" kern="0" dirty="0" err="1">
                <a:solidFill>
                  <a:schemeClr val="bg1"/>
                </a:solidFill>
                <a:latin typeface="Arial"/>
                <a:ea typeface="黑体"/>
              </a:rPr>
              <a:t>iNum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=23.0;   //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浮点数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1649CE9E-705D-4D79-B596-26F87E2DA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68" y="4799470"/>
            <a:ext cx="5072063" cy="360363"/>
          </a:xfrm>
          <a:prstGeom prst="roundRect">
            <a:avLst>
              <a:gd name="adj" fmla="val 1812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>
              <a:defRPr/>
            </a:pP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true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和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false</a:t>
            </a:r>
            <a:endParaRPr lang="zh-CN" altLang="en-US" b="1" kern="0" dirty="0">
              <a:solidFill>
                <a:schemeClr val="bg1"/>
              </a:solidFill>
              <a:latin typeface="Arial"/>
              <a:ea typeface="黑体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2455F236-EA8D-4D24-93AA-5097DE95D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8516" y="3017202"/>
            <a:ext cx="5072063" cy="503238"/>
          </a:xfrm>
          <a:prstGeom prst="roundRect">
            <a:avLst>
              <a:gd name="adj" fmla="val 1812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 marL="2857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endParaRPr lang="en-US" altLang="en-US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lvl="1" indent="-285750" eaLnBrk="0" hangingPunct="0">
              <a:lnSpc>
                <a:spcPct val="90000"/>
              </a:lnSpc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表示一个空值，与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undefined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值相等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A155662A-2414-4410-AF1D-4F77ACBB9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67" y="5445726"/>
            <a:ext cx="5072063" cy="642937"/>
          </a:xfrm>
          <a:prstGeom prst="roundRect">
            <a:avLst>
              <a:gd name="adj" fmla="val 1812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>
              <a:defRPr/>
            </a:pPr>
            <a:endParaRPr lang="en-US" altLang="en-US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一组被引号（单引号或双引号）括起来的文本</a:t>
            </a:r>
            <a:endParaRPr lang="en-US" altLang="en-US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>
              <a:defRPr/>
            </a:pPr>
            <a:r>
              <a:rPr lang="en-US" altLang="en-US" b="1" kern="0" dirty="0" err="1">
                <a:solidFill>
                  <a:schemeClr val="bg1"/>
                </a:solidFill>
                <a:latin typeface="Arial"/>
                <a:ea typeface="黑体"/>
              </a:rPr>
              <a:t>var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 string1="This is a string";</a:t>
            </a:r>
          </a:p>
        </p:txBody>
      </p:sp>
    </p:spTree>
    <p:extLst>
      <p:ext uri="{BB962C8B-B14F-4D97-AF65-F5344CB8AC3E}">
        <p14:creationId xmlns:p14="http://schemas.microsoft.com/office/powerpoint/2010/main" val="393570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ED5FA-7390-4D49-801E-84BDDEFC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 </a:t>
            </a:r>
            <a:r>
              <a:rPr lang="en-US" altLang="zh-CN" dirty="0" err="1"/>
              <a:t>typeof</a:t>
            </a:r>
            <a:r>
              <a:rPr lang="zh-CN" altLang="en-US" dirty="0"/>
              <a:t>运算符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1F90F-AABC-463D-95F3-BFA243E3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57" y="1126072"/>
            <a:ext cx="10687685" cy="4818380"/>
          </a:xfrm>
        </p:spPr>
        <p:txBody>
          <a:bodyPr/>
          <a:lstStyle/>
          <a:p>
            <a:pPr>
              <a:lnSpc>
                <a:spcPts val="4000"/>
              </a:lnSpc>
              <a:defRPr/>
            </a:pPr>
            <a:r>
              <a:rPr lang="en-US" altLang="zh-CN" dirty="0" err="1"/>
              <a:t>typeof</a:t>
            </a:r>
            <a:r>
              <a:rPr lang="zh-CN" altLang="en-US" dirty="0"/>
              <a:t>检测变量的返回值</a:t>
            </a:r>
            <a:endParaRPr lang="en-US" altLang="zh-CN" dirty="0"/>
          </a:p>
          <a:p>
            <a:pPr>
              <a:lnSpc>
                <a:spcPts val="4000"/>
              </a:lnSpc>
              <a:defRPr/>
            </a:pPr>
            <a:r>
              <a:rPr lang="en-US" altLang="zh-CN" dirty="0" err="1"/>
              <a:t>typeof</a:t>
            </a:r>
            <a:r>
              <a:rPr lang="zh-CN" altLang="en-US" dirty="0"/>
              <a:t>运算符返回值如下</a:t>
            </a:r>
            <a:endParaRPr lang="en-US" altLang="zh-CN" dirty="0"/>
          </a:p>
          <a:p>
            <a:pPr lvl="1">
              <a:lnSpc>
                <a:spcPts val="4000"/>
              </a:lnSpc>
              <a:defRPr/>
            </a:pPr>
            <a:r>
              <a:rPr lang="en-US" altLang="zh-CN" dirty="0"/>
              <a:t>undefined</a:t>
            </a:r>
            <a:r>
              <a:rPr lang="zh-CN" altLang="en-US" dirty="0"/>
              <a:t>：变量被声明后，但未被赋值</a:t>
            </a:r>
            <a:endParaRPr lang="en-US" altLang="zh-CN" dirty="0"/>
          </a:p>
          <a:p>
            <a:pPr lvl="1">
              <a:lnSpc>
                <a:spcPts val="4000"/>
              </a:lnSpc>
              <a:defRPr/>
            </a:pPr>
            <a:r>
              <a:rPr lang="en-US" altLang="zh-CN" dirty="0"/>
              <a:t>string</a:t>
            </a:r>
            <a:r>
              <a:rPr lang="zh-CN" altLang="en-US" dirty="0"/>
              <a:t>：用单引号或双引号来声明的字符串</a:t>
            </a:r>
            <a:endParaRPr lang="en-US" altLang="zh-CN" dirty="0"/>
          </a:p>
          <a:p>
            <a:pPr lvl="1">
              <a:lnSpc>
                <a:spcPts val="4000"/>
              </a:lnSpc>
              <a:defRPr/>
            </a:pPr>
            <a:r>
              <a:rPr lang="en-US" altLang="zh-CN" dirty="0" err="1"/>
              <a:t>boolean</a:t>
            </a:r>
            <a:r>
              <a:rPr lang="zh-CN" altLang="en-US" dirty="0"/>
              <a:t>：</a:t>
            </a:r>
            <a:r>
              <a:rPr lang="en-US" altLang="zh-CN" dirty="0"/>
              <a:t>true</a:t>
            </a:r>
            <a:r>
              <a:rPr lang="zh-CN" altLang="en-US" dirty="0"/>
              <a:t>或</a:t>
            </a:r>
            <a:r>
              <a:rPr lang="en-US" altLang="zh-CN" dirty="0"/>
              <a:t>false</a:t>
            </a:r>
          </a:p>
          <a:p>
            <a:pPr lvl="1">
              <a:lnSpc>
                <a:spcPts val="4000"/>
              </a:lnSpc>
              <a:defRPr/>
            </a:pPr>
            <a:r>
              <a:rPr lang="en-US" altLang="zh-CN" dirty="0"/>
              <a:t>number</a:t>
            </a:r>
            <a:r>
              <a:rPr lang="zh-CN" altLang="en-US" dirty="0"/>
              <a:t>：整数或浮点数</a:t>
            </a:r>
            <a:endParaRPr lang="en-US" altLang="zh-CN" dirty="0"/>
          </a:p>
          <a:p>
            <a:pPr lvl="1">
              <a:lnSpc>
                <a:spcPts val="4000"/>
              </a:lnSpc>
              <a:defRPr/>
            </a:pPr>
            <a:r>
              <a:rPr lang="en-US" altLang="zh-CN" dirty="0"/>
              <a:t>object</a:t>
            </a:r>
            <a:r>
              <a:rPr lang="zh-CN" altLang="en-US" dirty="0"/>
              <a:t>：</a:t>
            </a:r>
            <a:r>
              <a:rPr lang="en-US" altLang="zh-CN" dirty="0" err="1"/>
              <a:t>javascript</a:t>
            </a:r>
            <a:r>
              <a:rPr lang="zh-CN" altLang="en-US" dirty="0"/>
              <a:t>中的对象、数组和</a:t>
            </a:r>
            <a:r>
              <a:rPr lang="en-US" altLang="zh-CN" dirty="0"/>
              <a:t>null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2ACB67-B379-4CC7-BAAB-D62BF14E31CD}"/>
              </a:ext>
            </a:extLst>
          </p:cNvPr>
          <p:cNvGrpSpPr/>
          <p:nvPr/>
        </p:nvGrpSpPr>
        <p:grpSpPr>
          <a:xfrm>
            <a:off x="3337500" y="5999054"/>
            <a:ext cx="4424830" cy="582930"/>
            <a:chOff x="1488" y="2503"/>
            <a:chExt cx="6369" cy="918"/>
          </a:xfrm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63FE31A9-45E8-4DD3-A711-4DC8AEDF1AFB}"/>
                </a:ext>
              </a:extLst>
            </p:cNvPr>
            <p:cNvSpPr/>
            <p:nvPr/>
          </p:nvSpPr>
          <p:spPr>
            <a:xfrm>
              <a:off x="1488" y="2503"/>
              <a:ext cx="6128" cy="918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29C8E14-E102-412D-8934-96A9D24B46B8}"/>
                </a:ext>
              </a:extLst>
            </p:cNvPr>
            <p:cNvGrpSpPr/>
            <p:nvPr/>
          </p:nvGrpSpPr>
          <p:grpSpPr>
            <a:xfrm>
              <a:off x="1688" y="2598"/>
              <a:ext cx="6169" cy="737"/>
              <a:chOff x="1688" y="2598"/>
              <a:chExt cx="6169" cy="737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E9F14FD-D6CC-4B70-87ED-70FD32152E1A}"/>
                  </a:ext>
                </a:extLst>
              </p:cNvPr>
              <p:cNvSpPr txBox="1"/>
              <p:nvPr/>
            </p:nvSpPr>
            <p:spPr>
              <a:xfrm>
                <a:off x="2282" y="2648"/>
                <a:ext cx="557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演示示例</a:t>
                </a:r>
                <a:r>
                  <a:rPr lang="en-US" altLang="zh-CN"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sz="2000" b="1" dirty="0">
                    <a:solidFill>
                      <a:srgbClr val="00C77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en-US" altLang="zh-CN" sz="2000" b="1" spc="300" dirty="0" err="1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typeof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的用法</a:t>
                </a:r>
                <a:endParaRPr sz="2000" b="1" dirty="0">
                  <a:solidFill>
                    <a:srgbClr val="00C7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67">
                <a:extLst>
                  <a:ext uri="{FF2B5EF4-FFF2-40B4-BE49-F238E27FC236}">
                    <a16:creationId xmlns:a16="http://schemas.microsoft.com/office/drawing/2014/main" id="{A8F9296A-5F6D-4877-9BB6-F229BBB865F1}"/>
                  </a:ext>
                </a:extLst>
              </p:cNvPr>
              <p:cNvGrpSpPr/>
              <p:nvPr/>
            </p:nvGrpSpPr>
            <p:grpSpPr bwMode="auto">
              <a:xfrm>
                <a:off x="1688" y="2598"/>
                <a:ext cx="1021" cy="737"/>
                <a:chOff x="6071563" y="1124092"/>
                <a:chExt cx="648178" cy="467999"/>
              </a:xfrm>
            </p:grpSpPr>
            <p:pic>
              <p:nvPicPr>
                <p:cNvPr id="9" name="Picture 13" descr="E:\设计\06-2018\前端5.0PPT\辅导.png辅导">
                  <a:extLst>
                    <a:ext uri="{FF2B5EF4-FFF2-40B4-BE49-F238E27FC236}">
                      <a16:creationId xmlns:a16="http://schemas.microsoft.com/office/drawing/2014/main" id="{2103CB37-9D57-4C1B-9238-C536FDD840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6071563" y="1124092"/>
                  <a:ext cx="468036" cy="467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" name="TextBox 53">
                  <a:extLst>
                    <a:ext uri="{FF2B5EF4-FFF2-40B4-BE49-F238E27FC236}">
                      <a16:creationId xmlns:a16="http://schemas.microsoft.com/office/drawing/2014/main" id="{AD12B3D3-A633-46C9-A689-4E5EE05BA975}"/>
                    </a:ext>
                  </a:extLst>
                </p:cNvPr>
                <p:cNvSpPr txBox="1"/>
                <p:nvPr/>
              </p:nvSpPr>
              <p:spPr>
                <a:xfrm>
                  <a:off x="6409834" y="1171559"/>
                  <a:ext cx="309907" cy="398783"/>
                </a:xfrm>
                <a:prstGeom prst="rect">
                  <a:avLst/>
                </a:prstGeom>
                <a:noFill/>
                <a:effectLst>
                  <a:outerShdw blurRad="25400" dist="127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>
                    <a:defRPr/>
                  </a:pPr>
                  <a:endPara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3763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16461-8265-41A1-BD9B-9D1BAC80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—String</a:t>
            </a:r>
            <a:r>
              <a:rPr lang="zh-CN" altLang="en-US" dirty="0"/>
              <a:t>对象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51AC17F-6D71-4A94-8E5C-E55A6E49D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1019968"/>
            <a:ext cx="10687050" cy="4818063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zh-CN" altLang="en-US" dirty="0"/>
              <a:t>属性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zh-CN" altLang="en-US" dirty="0"/>
              <a:t>字符串对象</a:t>
            </a:r>
            <a:r>
              <a:rPr lang="en-US" dirty="0"/>
              <a:t>.length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dirty="0"/>
              <a:t>方法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zh-CN" altLang="en-US" dirty="0"/>
              <a:t>字符串对象</a:t>
            </a:r>
            <a:r>
              <a:rPr lang="en-US" altLang="en-US" dirty="0"/>
              <a:t>.</a:t>
            </a:r>
            <a:r>
              <a:rPr lang="zh-CN" altLang="en-US" dirty="0"/>
              <a:t>方法名</a:t>
            </a:r>
            <a:r>
              <a:rPr lang="en-US" altLang="en-US" dirty="0"/>
              <a:t>();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C6116FB1-328A-4539-BC40-0429AD615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875" y="1526818"/>
            <a:ext cx="4429125" cy="652582"/>
          </a:xfrm>
          <a:prstGeom prst="roundRect">
            <a:avLst>
              <a:gd name="adj" fmla="val 1812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en-US" b="1" dirty="0" err="1">
                <a:latin typeface="+mj-lt"/>
                <a:ea typeface="+mj-ea"/>
              </a:rPr>
              <a:t>var</a:t>
            </a:r>
            <a:r>
              <a:rPr lang="en-US" altLang="en-US" b="1" dirty="0">
                <a:latin typeface="+mj-lt"/>
                <a:ea typeface="+mj-ea"/>
              </a:rPr>
              <a:t> </a:t>
            </a:r>
            <a:r>
              <a:rPr lang="en-US" altLang="en-US" b="1" dirty="0" err="1">
                <a:latin typeface="+mj-lt"/>
                <a:ea typeface="+mj-ea"/>
              </a:rPr>
              <a:t>str</a:t>
            </a:r>
            <a:r>
              <a:rPr lang="en-US" altLang="en-US" b="1" dirty="0">
                <a:latin typeface="+mj-lt"/>
                <a:ea typeface="+mj-ea"/>
              </a:rPr>
              <a:t>="this is JavaScript";</a:t>
            </a:r>
            <a:endParaRPr lang="zh-CN" altLang="en-US" b="1" dirty="0">
              <a:latin typeface="+mj-lt"/>
              <a:ea typeface="+mj-ea"/>
            </a:endParaRPr>
          </a:p>
          <a:p>
            <a:r>
              <a:rPr lang="en-US" altLang="en-US" b="1" dirty="0" err="1">
                <a:latin typeface="+mj-lt"/>
                <a:ea typeface="+mj-ea"/>
              </a:rPr>
              <a:t>var</a:t>
            </a:r>
            <a:r>
              <a:rPr lang="en-US" altLang="en-US" b="1" dirty="0">
                <a:latin typeface="+mj-lt"/>
                <a:ea typeface="+mj-ea"/>
              </a:rPr>
              <a:t> </a:t>
            </a:r>
            <a:r>
              <a:rPr lang="en-US" altLang="en-US" b="1" dirty="0" err="1">
                <a:latin typeface="+mj-lt"/>
                <a:ea typeface="+mj-ea"/>
              </a:rPr>
              <a:t>strLength</a:t>
            </a:r>
            <a:r>
              <a:rPr lang="en-US" altLang="en-US" b="1" dirty="0">
                <a:latin typeface="+mj-lt"/>
                <a:ea typeface="+mj-ea"/>
              </a:rPr>
              <a:t>=</a:t>
            </a:r>
            <a:r>
              <a:rPr lang="en-US" altLang="en-US" b="1" dirty="0" err="1">
                <a:latin typeface="+mj-lt"/>
                <a:ea typeface="+mj-ea"/>
              </a:rPr>
              <a:t>str.length</a:t>
            </a:r>
            <a:r>
              <a:rPr lang="en-US" altLang="en-US" b="1" dirty="0">
                <a:latin typeface="+mj-lt"/>
                <a:ea typeface="+mj-ea"/>
              </a:rPr>
              <a:t>;    //</a:t>
            </a:r>
            <a:r>
              <a:rPr lang="zh-CN" altLang="en-US" b="1" dirty="0">
                <a:latin typeface="+mj-lt"/>
                <a:ea typeface="+mj-ea"/>
              </a:rPr>
              <a:t>长度是</a:t>
            </a:r>
            <a:r>
              <a:rPr lang="en-US" altLang="en-US" b="1" dirty="0">
                <a:latin typeface="+mj-lt"/>
                <a:ea typeface="+mj-ea"/>
              </a:rPr>
              <a:t>18</a:t>
            </a:r>
            <a:endParaRPr lang="zh-CN" altLang="en-US" b="1" dirty="0">
              <a:latin typeface="+mj-lt"/>
              <a:ea typeface="+mj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D88F66C-4503-4141-B817-D85EE3F71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691498"/>
              </p:ext>
            </p:extLst>
          </p:nvPr>
        </p:nvGraphicFramePr>
        <p:xfrm>
          <a:off x="1368439" y="3388577"/>
          <a:ext cx="8671561" cy="2580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935">
                  <a:extLst>
                    <a:ext uri="{9D8B030D-6E8A-4147-A177-3AD203B41FA5}">
                      <a16:colId xmlns:a16="http://schemas.microsoft.com/office/drawing/2014/main" val="96050077"/>
                    </a:ext>
                  </a:extLst>
                </a:gridCol>
                <a:gridCol w="5869626">
                  <a:extLst>
                    <a:ext uri="{9D8B030D-6E8A-4147-A177-3AD203B41FA5}">
                      <a16:colId xmlns:a16="http://schemas.microsoft.com/office/drawing/2014/main" val="1267612748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方法名称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>
                    <a:solidFill>
                      <a:srgbClr val="40D5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56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说      明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40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194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charAt(index)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返回在指定位置的字符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extLst>
                  <a:ext uri="{0D108BD9-81ED-4DB2-BD59-A6C34878D82A}">
                    <a16:rowId xmlns:a16="http://schemas.microsoft.com/office/drawing/2014/main" val="381632718"/>
                  </a:ext>
                </a:extLst>
              </a:tr>
              <a:tr h="3924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indexOf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en-US" altLang="en-US" sz="2000" b="1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str</a:t>
                      </a: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index)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查找某个指定的字符串在字符串中首次出现的位置</a:t>
                      </a:r>
                      <a:endParaRPr kumimoji="0" lang="en-US" altLang="zh-CN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extLst>
                  <a:ext uri="{0D108BD9-81ED-4DB2-BD59-A6C34878D82A}">
                    <a16:rowId xmlns:a16="http://schemas.microsoft.com/office/drawing/2014/main" val="16608866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substring(index1</a:t>
                      </a: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index2)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返回位于指定索引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index1</a:t>
                      </a: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和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index2</a:t>
                      </a: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之间的字符串，并且包括索引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index1</a:t>
                      </a: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对应的字符，不包括索引</a:t>
                      </a: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index2</a:t>
                      </a: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对应的字符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extLst>
                  <a:ext uri="{0D108BD9-81ED-4DB2-BD59-A6C34878D82A}">
                    <a16:rowId xmlns:a16="http://schemas.microsoft.com/office/drawing/2014/main" val="393447657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split(str)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将字符串分割为字符串数组</a:t>
                      </a:r>
                      <a:endParaRPr kumimoji="0" lang="zh-CN" altLang="en-US" sz="20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17780"/>
                </a:tc>
                <a:extLst>
                  <a:ext uri="{0D108BD9-81ED-4DB2-BD59-A6C34878D82A}">
                    <a16:rowId xmlns:a16="http://schemas.microsoft.com/office/drawing/2014/main" val="428298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87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FF403-C7B4-4727-AE11-BED47F03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数组</a:t>
            </a:r>
            <a:r>
              <a:rPr lang="en-US" altLang="zh-CN" dirty="0"/>
              <a:t>2-1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65E2AB-187C-44A6-820A-0EE2A51B8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810" y="4183468"/>
            <a:ext cx="3286125" cy="1571625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641194B-9650-4751-B229-7C551715FC01}"/>
              </a:ext>
            </a:extLst>
          </p:cNvPr>
          <p:cNvSpPr txBox="1">
            <a:spLocks/>
          </p:cNvSpPr>
          <p:nvPr/>
        </p:nvSpPr>
        <p:spPr>
          <a:xfrm>
            <a:off x="790576" y="1308100"/>
            <a:ext cx="7249642" cy="428117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创建数组</a:t>
            </a:r>
            <a:endParaRPr lang="en-US" altLang="zh-CN" sz="2800" dirty="0"/>
          </a:p>
          <a:p>
            <a:pPr lvl="3">
              <a:defRPr/>
            </a:pPr>
            <a:endParaRPr lang="en-US" altLang="zh-CN" dirty="0"/>
          </a:p>
          <a:p>
            <a:pPr lvl="1">
              <a:defRPr/>
            </a:pPr>
            <a:r>
              <a:rPr lang="zh-CN" altLang="en-US" sz="2600" dirty="0"/>
              <a:t>为数组元素赋值</a:t>
            </a:r>
            <a:endParaRPr lang="en-US" altLang="zh-CN" sz="2600" dirty="0"/>
          </a:p>
          <a:p>
            <a:pPr lvl="1">
              <a:defRPr/>
            </a:pPr>
            <a:r>
              <a:rPr lang="zh-CN" altLang="en-US" sz="2600" dirty="0"/>
              <a:t>访问数组</a:t>
            </a:r>
          </a:p>
          <a:p>
            <a:pPr lvl="1">
              <a:defRPr/>
            </a:pPr>
            <a:endParaRPr lang="zh-CN" altLang="en-US" dirty="0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A37B96FD-54DB-4C01-913A-31B14C382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38" y="2140053"/>
            <a:ext cx="3625736" cy="412485"/>
          </a:xfrm>
          <a:prstGeom prst="rect">
            <a:avLst/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  <a:extLst/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var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数组名称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= new Array(size);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35D92F33-5885-4D60-B694-EEE6609DF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014" y="1084338"/>
            <a:ext cx="1411287" cy="776287"/>
          </a:xfrm>
          <a:prstGeom prst="wedgeRoundRectCallout">
            <a:avLst>
              <a:gd name="adj1" fmla="val -25426"/>
              <a:gd name="adj2" fmla="val 51312"/>
              <a:gd name="adj3" fmla="val 16667"/>
            </a:avLst>
          </a:prstGeom>
          <a:solidFill>
            <a:srgbClr val="00C77A"/>
          </a:solidFill>
          <a:ln w="9525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表示数组的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关键字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991348D7-2239-4860-B582-EBCBAE4AF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1224486"/>
            <a:ext cx="2103438" cy="776288"/>
          </a:xfrm>
          <a:prstGeom prst="wedgeRoundRectCallout">
            <a:avLst>
              <a:gd name="adj1" fmla="val -19803"/>
              <a:gd name="adj2" fmla="val 52784"/>
              <a:gd name="adj3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表示数组中可存放</a:t>
            </a:r>
            <a:endParaRPr lang="en-US" altLang="zh-CN" b="1" kern="0" dirty="0">
              <a:solidFill>
                <a:schemeClr val="bg1"/>
              </a:solidFill>
              <a:latin typeface="Arial"/>
              <a:ea typeface="黑体"/>
            </a:endParaRPr>
          </a:p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的元素总数</a:t>
            </a:r>
          </a:p>
        </p:txBody>
      </p:sp>
      <p:sp>
        <p:nvSpPr>
          <p:cNvPr id="11" name="圆角矩形 11">
            <a:extLst>
              <a:ext uri="{FF2B5EF4-FFF2-40B4-BE49-F238E27FC236}">
                <a16:creationId xmlns:a16="http://schemas.microsoft.com/office/drawing/2014/main" id="{4D56A64D-450C-4D49-AA3A-69FACC2A6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4" y="3287951"/>
            <a:ext cx="7000875" cy="427026"/>
          </a:xfrm>
          <a:prstGeom prst="roundRect">
            <a:avLst>
              <a:gd name="adj" fmla="val 5352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var fruit= new Array("apple", "orange", "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peach","banana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");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AE01942-FDAA-4681-882B-12C37D612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6" y="3824362"/>
            <a:ext cx="4714875" cy="1855380"/>
          </a:xfrm>
          <a:prstGeom prst="roundRect">
            <a:avLst>
              <a:gd name="adj" fmla="val 7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var fruit = new Array(4);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fruit [0] = " apple ";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fruit [1] = " orange ";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fruit [2] = " peach ";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fruit [3] = " banana ";</a:t>
            </a:r>
          </a:p>
        </p:txBody>
      </p:sp>
      <p:sp>
        <p:nvSpPr>
          <p:cNvPr id="14" name="圆角矩形 11">
            <a:extLst>
              <a:ext uri="{FF2B5EF4-FFF2-40B4-BE49-F238E27FC236}">
                <a16:creationId xmlns:a16="http://schemas.microsoft.com/office/drawing/2014/main" id="{DDFC69EF-B320-43FE-A544-6EB3F880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719" y="3804132"/>
            <a:ext cx="2428883" cy="412485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数组名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[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下标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]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CCDCA62-0BC7-438C-8256-115A31E7C9F7}"/>
              </a:ext>
            </a:extLst>
          </p:cNvPr>
          <p:cNvCxnSpPr>
            <a:endCxn id="8" idx="4"/>
          </p:cNvCxnSpPr>
          <p:nvPr/>
        </p:nvCxnSpPr>
        <p:spPr bwMode="auto">
          <a:xfrm rot="5400000" flipH="1" flipV="1">
            <a:off x="4446712" y="2089932"/>
            <a:ext cx="499315" cy="61226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B2F3CFD-F3EC-4685-BD63-8C15000C01DB}"/>
              </a:ext>
            </a:extLst>
          </p:cNvPr>
          <p:cNvCxnSpPr>
            <a:endCxn id="9" idx="4"/>
          </p:cNvCxnSpPr>
          <p:nvPr/>
        </p:nvCxnSpPr>
        <p:spPr bwMode="auto">
          <a:xfrm flipV="1">
            <a:off x="6024562" y="2022386"/>
            <a:ext cx="1135238" cy="343882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3523A5D-ABCE-46CF-BDE5-C02FA84819C6}"/>
              </a:ext>
            </a:extLst>
          </p:cNvPr>
          <p:cNvGrpSpPr/>
          <p:nvPr/>
        </p:nvGrpSpPr>
        <p:grpSpPr>
          <a:xfrm>
            <a:off x="1484631" y="2141754"/>
            <a:ext cx="1039495" cy="400050"/>
            <a:chOff x="1174750" y="2340610"/>
            <a:chExt cx="1039495" cy="400050"/>
          </a:xfrm>
        </p:grpSpPr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09D405C9-EAFD-422B-9352-580B2DA37E08}"/>
                </a:ext>
              </a:extLst>
            </p:cNvPr>
            <p:cNvSpPr txBox="1"/>
            <p:nvPr/>
          </p:nvSpPr>
          <p:spPr>
            <a:xfrm>
              <a:off x="1514475" y="2340610"/>
              <a:ext cx="699770" cy="40005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语法</a:t>
              </a:r>
            </a:p>
          </p:txBody>
        </p:sp>
        <p:pic>
          <p:nvPicPr>
            <p:cNvPr id="22" name="图片 21" descr="语法">
              <a:extLst>
                <a:ext uri="{FF2B5EF4-FFF2-40B4-BE49-F238E27FC236}">
                  <a16:creationId xmlns:a16="http://schemas.microsoft.com/office/drawing/2014/main" id="{589B81EF-24B2-4900-BCDD-B3E776FC5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4750" y="2340610"/>
              <a:ext cx="389890" cy="389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553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1" grpId="1" animBg="1"/>
      <p:bldP spid="12" grpId="0" animBg="1"/>
      <p:bldP spid="12" grpId="1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82F2B-9A7E-47D3-916E-5521504C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数组</a:t>
            </a:r>
            <a:r>
              <a:rPr lang="en-US" altLang="zh-CN" dirty="0"/>
              <a:t>2-2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AD5AB9B-79A8-4378-8581-6908DBBD453D}"/>
              </a:ext>
            </a:extLst>
          </p:cNvPr>
          <p:cNvSpPr txBox="1">
            <a:spLocks/>
          </p:cNvSpPr>
          <p:nvPr/>
        </p:nvSpPr>
        <p:spPr>
          <a:xfrm>
            <a:off x="771525" y="1308100"/>
            <a:ext cx="7645400" cy="514350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dirty="0"/>
              <a:t>数组的常用属性和方法</a:t>
            </a:r>
          </a:p>
        </p:txBody>
      </p:sp>
      <p:graphicFrame>
        <p:nvGraphicFramePr>
          <p:cNvPr id="9" name="Group 29">
            <a:extLst>
              <a:ext uri="{FF2B5EF4-FFF2-40B4-BE49-F238E27FC236}">
                <a16:creationId xmlns:a16="http://schemas.microsoft.com/office/drawing/2014/main" id="{F563F4C7-9FD6-4E2D-A3D6-51C4892E8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846544"/>
              </p:ext>
            </p:extLst>
          </p:nvPr>
        </p:nvGraphicFramePr>
        <p:xfrm>
          <a:off x="1462722" y="2171749"/>
          <a:ext cx="8504238" cy="2591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6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3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/>
                        <a:t>类别</a:t>
                      </a:r>
                      <a:endParaRPr lang="zh-CN" sz="2000" kern="100" dirty="0">
                        <a:solidFill>
                          <a:schemeClr val="bg1"/>
                        </a:solidFill>
                        <a:latin typeface="黑体" pitchFamily="2" charset="-122"/>
                        <a:ea typeface="黑体" pitchFamily="2" charset="-122"/>
                        <a:cs typeface="Times New Roman"/>
                      </a:endParaRPr>
                    </a:p>
                  </a:txBody>
                  <a:tcPr marL="48527" marR="48527" marT="0" marB="0" anchor="ctr">
                    <a:solidFill>
                      <a:srgbClr val="40D5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/>
                        <a:t>名称</a:t>
                      </a:r>
                      <a:endParaRPr lang="zh-CN" sz="2000" kern="100" dirty="0">
                        <a:solidFill>
                          <a:schemeClr val="bg1"/>
                        </a:solidFill>
                        <a:latin typeface="黑体" pitchFamily="2" charset="-122"/>
                        <a:ea typeface="黑体" pitchFamily="2" charset="-122"/>
                        <a:cs typeface="Times New Roman"/>
                      </a:endParaRPr>
                    </a:p>
                  </a:txBody>
                  <a:tcPr marL="48527" marR="48527" marT="0" marB="0" anchor="ctr">
                    <a:solidFill>
                      <a:srgbClr val="40D5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/>
                        <a:t>描述</a:t>
                      </a:r>
                      <a:endParaRPr lang="zh-CN" sz="2000" kern="100" dirty="0">
                        <a:solidFill>
                          <a:schemeClr val="bg1"/>
                        </a:solidFill>
                        <a:latin typeface="黑体" pitchFamily="2" charset="-122"/>
                        <a:ea typeface="黑体" pitchFamily="2" charset="-122"/>
                        <a:cs typeface="Times New Roman"/>
                      </a:endParaRPr>
                    </a:p>
                  </a:txBody>
                  <a:tcPr marL="48527" marR="48527" marT="0" marB="0" anchor="ctr">
                    <a:solidFill>
                      <a:srgbClr val="40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属性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/>
                        <a:t>length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设置或返回数组中元素的数目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772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方法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/>
                        <a:t>join( )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/>
                        <a:t>把数组的所有元素放入一个字符串，通过一个的分隔符进行分隔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386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/>
                        <a:t>sort()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/>
                        <a:t>对数组排序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98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/>
                        <a:t>push()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/>
                        <a:t>向数组末尾添加一个或更多</a:t>
                      </a:r>
                      <a:r>
                        <a:rPr lang="zh-CN" altLang="en-US" sz="1800" kern="100" baseline="0" dirty="0"/>
                        <a:t> 元素，并返回新的长度</a:t>
                      </a:r>
                      <a:endParaRPr lang="zh-CN" sz="1800" b="1" kern="100" dirty="0"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48527" marR="4852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AutoShape 11">
            <a:extLst>
              <a:ext uri="{FF2B5EF4-FFF2-40B4-BE49-F238E27FC236}">
                <a16:creationId xmlns:a16="http://schemas.microsoft.com/office/drawing/2014/main" id="{C74DA676-4E39-4A24-A93F-6851428A3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447" y="5189552"/>
            <a:ext cx="6227164" cy="664791"/>
          </a:xfrm>
          <a:prstGeom prst="roundRect">
            <a:avLst>
              <a:gd name="adj" fmla="val 16667"/>
            </a:avLst>
          </a:prstGeom>
          <a:solidFill>
            <a:srgbClr val="A6EBD1">
              <a:alpha val="22000"/>
            </a:srgbClr>
          </a:solidFill>
          <a:ln w="50800" cap="flat" cmpd="sng" algn="ctr">
            <a:solidFill>
              <a:srgbClr val="40D59B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anchor="t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更多方法可查阅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JavaScrpt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Array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对象参考手册：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http://www.w3school.com.cn/js/jsref_obj_array.asp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57">
            <a:extLst>
              <a:ext uri="{FF2B5EF4-FFF2-40B4-BE49-F238E27FC236}">
                <a16:creationId xmlns:a16="http://schemas.microsoft.com/office/drawing/2014/main" id="{CE39718A-0B53-4261-ADC8-2758359AC993}"/>
              </a:ext>
            </a:extLst>
          </p:cNvPr>
          <p:cNvGrpSpPr/>
          <p:nvPr/>
        </p:nvGrpSpPr>
        <p:grpSpPr bwMode="auto">
          <a:xfrm>
            <a:off x="1210332" y="5321922"/>
            <a:ext cx="1063308" cy="400050"/>
            <a:chOff x="3565642" y="3143248"/>
            <a:chExt cx="1064249" cy="400110"/>
          </a:xfrm>
        </p:grpSpPr>
        <p:sp>
          <p:nvSpPr>
            <p:cNvPr id="20" name="TextBox 35">
              <a:extLst>
                <a:ext uri="{FF2B5EF4-FFF2-40B4-BE49-F238E27FC236}">
                  <a16:creationId xmlns:a16="http://schemas.microsoft.com/office/drawing/2014/main" id="{A171AF0C-0722-4B37-ABD4-9355FB647E46}"/>
                </a:ext>
              </a:extLst>
            </p:cNvPr>
            <p:cNvSpPr txBox="1"/>
            <p:nvPr/>
          </p:nvSpPr>
          <p:spPr>
            <a:xfrm>
              <a:off x="3929183" y="3143248"/>
              <a:ext cx="700708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经验</a:t>
              </a:r>
            </a:p>
          </p:txBody>
        </p:sp>
        <p:pic>
          <p:nvPicPr>
            <p:cNvPr id="21" name="Picture 1" descr="E:\设计\06-2018\前端5.0PPT\历史.png历史">
              <a:extLst>
                <a:ext uri="{FF2B5EF4-FFF2-40B4-BE49-F238E27FC236}">
                  <a16:creationId xmlns:a16="http://schemas.microsoft.com/office/drawing/2014/main" id="{8E22D84C-D17B-4FF8-B783-A5941B0891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65642" y="3176908"/>
              <a:ext cx="361635" cy="361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738AF3E-7EC6-493B-8E25-3878669F9187}"/>
              </a:ext>
            </a:extLst>
          </p:cNvPr>
          <p:cNvGrpSpPr/>
          <p:nvPr/>
        </p:nvGrpSpPr>
        <p:grpSpPr>
          <a:xfrm>
            <a:off x="3786106" y="6085206"/>
            <a:ext cx="3780723" cy="582930"/>
            <a:chOff x="3786106" y="6085206"/>
            <a:chExt cx="3780723" cy="582930"/>
          </a:xfrm>
        </p:grpSpPr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EEA510F6-2CBA-422A-93F5-3AFA22F4ECAE}"/>
                </a:ext>
              </a:extLst>
            </p:cNvPr>
            <p:cNvSpPr/>
            <p:nvPr/>
          </p:nvSpPr>
          <p:spPr>
            <a:xfrm>
              <a:off x="3786106" y="6085206"/>
              <a:ext cx="3780723" cy="582930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700B716-6299-420C-8152-E43648C8056A}"/>
                </a:ext>
              </a:extLst>
            </p:cNvPr>
            <p:cNvSpPr txBox="1"/>
            <p:nvPr/>
          </p:nvSpPr>
          <p:spPr>
            <a:xfrm>
              <a:off x="4389356" y="6167756"/>
              <a:ext cx="31774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000" b="1" dirty="0">
                  <a:solidFill>
                    <a:srgbClr val="00C7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rPr>
                <a:t>：数组的应用</a:t>
              </a:r>
              <a:endParaRPr lang="zh-CN" altLang="en-US" sz="2000" b="1" dirty="0">
                <a:solidFill>
                  <a:srgbClr val="00C77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组合 67">
              <a:extLst>
                <a:ext uri="{FF2B5EF4-FFF2-40B4-BE49-F238E27FC236}">
                  <a16:creationId xmlns:a16="http://schemas.microsoft.com/office/drawing/2014/main" id="{A10BC0AE-4ADB-42DB-9F0C-AC667EFD319C}"/>
                </a:ext>
              </a:extLst>
            </p:cNvPr>
            <p:cNvGrpSpPr/>
            <p:nvPr/>
          </p:nvGrpSpPr>
          <p:grpSpPr bwMode="auto">
            <a:xfrm>
              <a:off x="3912918" y="6145372"/>
              <a:ext cx="720090" cy="467995"/>
              <a:chOff x="6071563" y="1124092"/>
              <a:chExt cx="720153" cy="467999"/>
            </a:xfrm>
          </p:grpSpPr>
          <p:pic>
            <p:nvPicPr>
              <p:cNvPr id="29" name="Picture 13" descr="E:\设计\06-2018\前端5.0PPT\辅导.png辅导">
                <a:extLst>
                  <a:ext uri="{FF2B5EF4-FFF2-40B4-BE49-F238E27FC236}">
                    <a16:creationId xmlns:a16="http://schemas.microsoft.com/office/drawing/2014/main" id="{06BE3D61-EDEA-4074-9494-68352F23D5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6071563" y="1124092"/>
                <a:ext cx="468036" cy="467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TextBox 53">
                <a:extLst>
                  <a:ext uri="{FF2B5EF4-FFF2-40B4-BE49-F238E27FC236}">
                    <a16:creationId xmlns:a16="http://schemas.microsoft.com/office/drawing/2014/main" id="{EFE70A5C-0D5C-4792-A0C5-363238AC0520}"/>
                  </a:ext>
                </a:extLst>
              </p:cNvPr>
              <p:cNvSpPr txBox="1"/>
              <p:nvPr/>
            </p:nvSpPr>
            <p:spPr>
              <a:xfrm>
                <a:off x="6481809" y="1172194"/>
                <a:ext cx="309907" cy="398783"/>
              </a:xfrm>
              <a:prstGeom prst="rect">
                <a:avLst/>
              </a:prstGeom>
              <a:noFill/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7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9">
            <a:extLst>
              <a:ext uri="{FF2B5EF4-FFF2-40B4-BE49-F238E27FC236}">
                <a16:creationId xmlns:a16="http://schemas.microsoft.com/office/drawing/2014/main" id="{57D00215-BD53-44AB-9844-8016D04B4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583460"/>
              </p:ext>
            </p:extLst>
          </p:nvPr>
        </p:nvGraphicFramePr>
        <p:xfrm>
          <a:off x="2720008" y="1709192"/>
          <a:ext cx="7429500" cy="392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2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类型</a:t>
                      </a:r>
                      <a:endParaRPr lang="zh-CN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88145" marR="88145" anchor="ctr">
                    <a:solidFill>
                      <a:srgbClr val="40D5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运算符</a:t>
                      </a:r>
                      <a:endParaRPr lang="zh-CN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88145" marR="88145" anchor="ctr">
                    <a:solidFill>
                      <a:srgbClr val="40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4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算术运算符</a:t>
                      </a:r>
                    </a:p>
                  </a:txBody>
                  <a:tcPr marL="88145" marR="88145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+</a:t>
                      </a:r>
                      <a:r>
                        <a:rPr lang="zh-CN" altLang="en-US" sz="1800" b="1" baseline="0" dirty="0"/>
                        <a:t>    </a:t>
                      </a:r>
                      <a:r>
                        <a:rPr lang="en-US" altLang="zh-CN" sz="1800" b="1" baseline="0" dirty="0"/>
                        <a:t>-</a:t>
                      </a:r>
                      <a:r>
                        <a:rPr lang="zh-CN" altLang="en-US" sz="1800" b="1" baseline="0" dirty="0"/>
                        <a:t>   *    </a:t>
                      </a:r>
                      <a:r>
                        <a:rPr lang="en-US" altLang="zh-CN" sz="1800" b="1" baseline="0" dirty="0"/>
                        <a:t>/</a:t>
                      </a:r>
                      <a:r>
                        <a:rPr lang="zh-CN" altLang="en-US" sz="1800" b="1" baseline="0" dirty="0"/>
                        <a:t>    </a:t>
                      </a:r>
                      <a:r>
                        <a:rPr lang="en-US" altLang="zh-CN" sz="1800" b="1" baseline="0" dirty="0"/>
                        <a:t>%</a:t>
                      </a:r>
                      <a:r>
                        <a:rPr lang="zh-CN" altLang="en-US" sz="1800" b="1" baseline="0" dirty="0"/>
                        <a:t>    </a:t>
                      </a:r>
                      <a:r>
                        <a:rPr lang="en-US" altLang="zh-CN" sz="1800" b="1" baseline="0" dirty="0"/>
                        <a:t>++</a:t>
                      </a:r>
                      <a:r>
                        <a:rPr lang="zh-CN" altLang="en-US" sz="1800" b="1" baseline="0" dirty="0"/>
                        <a:t>    </a:t>
                      </a:r>
                      <a:r>
                        <a:rPr lang="en-US" altLang="zh-CN" sz="1800" b="1" baseline="0" dirty="0"/>
                        <a:t>—</a:t>
                      </a:r>
                      <a:endParaRPr lang="zh-CN" altLang="en-US" sz="1800" b="1" dirty="0"/>
                    </a:p>
                  </a:txBody>
                  <a:tcPr marL="88145" marR="8814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5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赋值运算符</a:t>
                      </a:r>
                    </a:p>
                  </a:txBody>
                  <a:tcPr marL="88145" marR="88145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=</a:t>
                      </a:r>
                      <a:r>
                        <a:rPr lang="zh-CN" altLang="en-US" sz="1800" b="1" dirty="0"/>
                        <a:t>    </a:t>
                      </a:r>
                      <a:r>
                        <a:rPr lang="en-US" altLang="zh-CN" sz="1800" b="1" dirty="0"/>
                        <a:t>+=</a:t>
                      </a:r>
                      <a:r>
                        <a:rPr lang="zh-CN" altLang="en-US" sz="1800" b="1" dirty="0"/>
                        <a:t>   </a:t>
                      </a:r>
                      <a:r>
                        <a:rPr lang="en-US" altLang="zh-CN" sz="1800" b="1" dirty="0"/>
                        <a:t>-=</a:t>
                      </a:r>
                      <a:endParaRPr lang="zh-CN" altLang="en-US" sz="1800" b="1" dirty="0"/>
                    </a:p>
                  </a:txBody>
                  <a:tcPr marL="88145" marR="881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44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比较运算符</a:t>
                      </a:r>
                    </a:p>
                  </a:txBody>
                  <a:tcPr marL="88145" marR="88145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&gt;</a:t>
                      </a:r>
                      <a:r>
                        <a:rPr lang="zh-CN" altLang="en-US" sz="1800" b="1" dirty="0"/>
                        <a:t>    </a:t>
                      </a:r>
                      <a:r>
                        <a:rPr lang="en-US" altLang="zh-CN" sz="1800" b="1" dirty="0"/>
                        <a:t>&lt;</a:t>
                      </a:r>
                      <a:r>
                        <a:rPr lang="zh-CN" altLang="en-US" sz="1800" b="1" dirty="0"/>
                        <a:t>     </a:t>
                      </a:r>
                      <a:r>
                        <a:rPr lang="en-US" altLang="zh-CN" sz="1800" b="1" dirty="0"/>
                        <a:t>&gt;=</a:t>
                      </a:r>
                      <a:r>
                        <a:rPr lang="zh-CN" altLang="en-US" sz="1800" b="1" dirty="0"/>
                        <a:t>      </a:t>
                      </a:r>
                      <a:r>
                        <a:rPr lang="en-US" altLang="zh-CN" sz="1800" b="1" dirty="0"/>
                        <a:t>&lt;=</a:t>
                      </a:r>
                      <a:r>
                        <a:rPr lang="zh-CN" altLang="en-US" sz="1800" b="1" dirty="0"/>
                        <a:t>     </a:t>
                      </a:r>
                      <a:r>
                        <a:rPr lang="en-US" altLang="zh-CN" sz="1800" b="1" dirty="0"/>
                        <a:t>==</a:t>
                      </a:r>
                      <a:r>
                        <a:rPr lang="zh-CN" altLang="en-US" sz="1800" b="1" dirty="0"/>
                        <a:t>    </a:t>
                      </a:r>
                      <a:r>
                        <a:rPr lang="en-US" altLang="zh-CN" sz="1800" b="1" dirty="0"/>
                        <a:t>!=   ===</a:t>
                      </a:r>
                      <a:r>
                        <a:rPr lang="zh-CN" altLang="en-US" sz="1800" b="1" dirty="0"/>
                        <a:t>   </a:t>
                      </a:r>
                      <a:r>
                        <a:rPr lang="en-US" altLang="zh-CN" sz="1800" b="1" dirty="0"/>
                        <a:t>!==</a:t>
                      </a:r>
                      <a:endParaRPr lang="zh-CN" altLang="en-US" sz="1800" b="1" dirty="0"/>
                    </a:p>
                  </a:txBody>
                  <a:tcPr marL="88145" marR="881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逻辑运算符</a:t>
                      </a:r>
                    </a:p>
                  </a:txBody>
                  <a:tcPr marL="88145" marR="88145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/>
                        <a:t>&amp;&amp;</a:t>
                      </a:r>
                      <a:r>
                        <a:rPr lang="zh-CN" altLang="en-US" sz="1800" b="1" kern="1200" dirty="0"/>
                        <a:t>      </a:t>
                      </a:r>
                      <a:r>
                        <a:rPr lang="en-US" altLang="zh-CN" sz="1800" b="1" kern="1200" dirty="0"/>
                        <a:t>||</a:t>
                      </a:r>
                      <a:r>
                        <a:rPr lang="zh-CN" altLang="en-US" sz="1800" b="1" kern="1200" dirty="0"/>
                        <a:t>     </a:t>
                      </a:r>
                      <a:r>
                        <a:rPr lang="en-US" altLang="zh-CN" sz="1800" b="1" dirty="0"/>
                        <a:t>!</a:t>
                      </a:r>
                      <a:endParaRPr lang="zh-CN" altLang="en-US" sz="1800" b="1" dirty="0"/>
                    </a:p>
                  </a:txBody>
                  <a:tcPr marL="88145" marR="881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标题 2">
            <a:extLst>
              <a:ext uri="{FF2B5EF4-FFF2-40B4-BE49-F238E27FC236}">
                <a16:creationId xmlns:a16="http://schemas.microsoft.com/office/drawing/2014/main" id="{D263AF44-14C2-4725-98C9-4BDBF3058991}"/>
              </a:ext>
            </a:extLst>
          </p:cNvPr>
          <p:cNvSpPr txBox="1">
            <a:spLocks/>
          </p:cNvSpPr>
          <p:nvPr/>
        </p:nvSpPr>
        <p:spPr>
          <a:xfrm>
            <a:off x="942975" y="428416"/>
            <a:ext cx="9518680" cy="942340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705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Tx/>
            </a:pPr>
            <a:r>
              <a:rPr lang="zh-CN" altLang="en-US"/>
              <a:t>核心语法</a:t>
            </a:r>
            <a:r>
              <a:rPr lang="en-US" altLang="zh-CN"/>
              <a:t>—</a:t>
            </a:r>
            <a:r>
              <a:rPr lang="zh-CN" altLang="en-US"/>
              <a:t>运算符号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8998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84B7F-4F52-4216-B821-260449EE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逻辑控制语句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CAA9D-5BAD-42CA-9C4B-B11C57D47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条件语句</a:t>
            </a:r>
          </a:p>
          <a:p>
            <a:r>
              <a:rPr lang="en-US" altLang="zh-CN" dirty="0"/>
              <a:t>switch</a:t>
            </a:r>
            <a:r>
              <a:rPr lang="zh-CN" altLang="en-US" dirty="0"/>
              <a:t>多分支语句</a:t>
            </a:r>
          </a:p>
          <a:p>
            <a:r>
              <a:rPr lang="en-US" altLang="zh-CN" dirty="0"/>
              <a:t>for</a:t>
            </a:r>
            <a:r>
              <a:rPr lang="zh-CN" altLang="en-US" dirty="0"/>
              <a:t>、</a:t>
            </a:r>
            <a:r>
              <a:rPr lang="en-US" altLang="zh-CN" dirty="0"/>
              <a:t>while</a:t>
            </a:r>
            <a:r>
              <a:rPr lang="zh-CN" altLang="en-US" dirty="0"/>
              <a:t>循环语句</a:t>
            </a:r>
          </a:p>
          <a:p>
            <a:r>
              <a:rPr lang="en-US" altLang="zh-CN" dirty="0"/>
              <a:t>for-in</a:t>
            </a:r>
          </a:p>
          <a:p>
            <a:endParaRPr lang="zh-CN" altLang="en-US" dirty="0"/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C179F5A2-37F2-4542-A02A-0D017053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521" y="1712691"/>
            <a:ext cx="3977915" cy="2969482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if(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条件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//JavaScript</a:t>
            </a:r>
            <a:r>
              <a:rPr lang="zh-CN" altLang="en-US" b="1" dirty="0">
                <a:ea typeface="宋体" charset="-122"/>
              </a:rPr>
              <a:t>代码</a:t>
            </a:r>
            <a:r>
              <a:rPr lang="en-US" altLang="zh-CN" b="1" dirty="0">
                <a:ea typeface="宋体" charset="-122"/>
              </a:rPr>
              <a:t>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}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else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//JavaScript</a:t>
            </a:r>
            <a:r>
              <a:rPr lang="zh-CN" altLang="en-US" b="1" dirty="0">
                <a:ea typeface="宋体" charset="-122"/>
              </a:rPr>
              <a:t>代码</a:t>
            </a:r>
            <a:r>
              <a:rPr lang="en-US" altLang="zh-CN" b="1" dirty="0">
                <a:ea typeface="宋体" charset="-122"/>
              </a:rPr>
              <a:t>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}</a:t>
            </a:r>
          </a:p>
        </p:txBody>
      </p:sp>
      <p:sp>
        <p:nvSpPr>
          <p:cNvPr id="5" name="AutoShape 12">
            <a:extLst>
              <a:ext uri="{FF2B5EF4-FFF2-40B4-BE49-F238E27FC236}">
                <a16:creationId xmlns:a16="http://schemas.microsoft.com/office/drawing/2014/main" id="{70EE6193-AF66-4CDF-8692-438B87E7E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960" y="2068328"/>
            <a:ext cx="3974760" cy="4023372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switch (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表达式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{    case </a:t>
            </a:r>
            <a:r>
              <a:rPr lang="zh-CN" altLang="en-US" b="1" dirty="0">
                <a:ea typeface="宋体" charset="-122"/>
              </a:rPr>
              <a:t>常量</a:t>
            </a:r>
            <a:r>
              <a:rPr lang="en-US" altLang="zh-CN" b="1" dirty="0">
                <a:ea typeface="宋体" charset="-122"/>
              </a:rPr>
              <a:t>1 :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        JavaScript</a:t>
            </a:r>
            <a:r>
              <a:rPr lang="zh-CN" altLang="en-US" b="1" dirty="0">
                <a:ea typeface="宋体" charset="-122"/>
              </a:rPr>
              <a:t>语句</a:t>
            </a:r>
            <a:r>
              <a:rPr lang="en-US" altLang="zh-CN" b="1" dirty="0">
                <a:ea typeface="宋体" charset="-122"/>
              </a:rPr>
              <a:t>1;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	break;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 case </a:t>
            </a:r>
            <a:r>
              <a:rPr lang="zh-CN" altLang="en-US" b="1" dirty="0">
                <a:ea typeface="宋体" charset="-122"/>
              </a:rPr>
              <a:t>常量</a:t>
            </a:r>
            <a:r>
              <a:rPr lang="en-US" altLang="zh-CN" b="1" dirty="0">
                <a:ea typeface="宋体" charset="-122"/>
              </a:rPr>
              <a:t>2 :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	JavaScript</a:t>
            </a:r>
            <a:r>
              <a:rPr lang="zh-CN" altLang="en-US" b="1" dirty="0">
                <a:ea typeface="宋体" charset="-122"/>
              </a:rPr>
              <a:t>语句</a:t>
            </a:r>
            <a:r>
              <a:rPr lang="en-US" altLang="zh-CN" b="1" dirty="0">
                <a:ea typeface="宋体" charset="-122"/>
              </a:rPr>
              <a:t>2;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	break;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   ...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  default :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       JavaScript</a:t>
            </a:r>
            <a:r>
              <a:rPr lang="zh-CN" altLang="en-US" b="1" dirty="0">
                <a:ea typeface="宋体" charset="-122"/>
              </a:rPr>
              <a:t>语句</a:t>
            </a:r>
            <a:r>
              <a:rPr lang="en-US" altLang="zh-CN" b="1" dirty="0">
                <a:ea typeface="宋体" charset="-122"/>
              </a:rPr>
              <a:t>3;  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}</a:t>
            </a: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E4EFDE34-725A-4246-B879-C0B94FDC9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994" y="2881518"/>
            <a:ext cx="3974760" cy="3333381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for(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初始化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;  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条件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;  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增量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JavaScript</a:t>
            </a:r>
            <a:r>
              <a:rPr lang="zh-CN" altLang="en-US" b="1" dirty="0">
                <a:ea typeface="宋体" charset="-122"/>
              </a:rPr>
              <a:t>代码</a:t>
            </a:r>
            <a:r>
              <a:rPr lang="en-US" altLang="zh-CN" b="1" dirty="0">
                <a:ea typeface="宋体" charset="-122"/>
              </a:rPr>
              <a:t>;</a:t>
            </a:r>
            <a:br>
              <a:rPr lang="en-US" altLang="zh-CN" b="1" dirty="0">
                <a:ea typeface="宋体" charset="-122"/>
              </a:rPr>
            </a:br>
            <a:r>
              <a:rPr lang="en-US" altLang="zh-CN" b="1" dirty="0">
                <a:ea typeface="宋体" charset="-122"/>
              </a:rPr>
              <a:t> }</a:t>
            </a:r>
          </a:p>
          <a:p>
            <a:pPr>
              <a:lnSpc>
                <a:spcPct val="130000"/>
              </a:lnSpc>
              <a:defRPr/>
            </a:pPr>
            <a:endParaRPr lang="en-US" altLang="zh-CN" b="1" dirty="0">
              <a:ea typeface="宋体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while(</a:t>
            </a:r>
            <a:r>
              <a:rPr lang="zh-CN" altLang="en-US" b="1" dirty="0">
                <a:solidFill>
                  <a:srgbClr val="FF0000"/>
                </a:solidFill>
                <a:ea typeface="宋体" charset="-122"/>
              </a:rPr>
              <a:t>条件</a:t>
            </a:r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{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      JavaScript</a:t>
            </a:r>
            <a:r>
              <a:rPr lang="zh-CN" altLang="en-US" b="1" dirty="0">
                <a:ea typeface="宋体" charset="-122"/>
              </a:rPr>
              <a:t>代码</a:t>
            </a:r>
            <a:r>
              <a:rPr lang="en-US" altLang="zh-CN" b="1" dirty="0">
                <a:ea typeface="宋体" charset="-122"/>
              </a:rPr>
              <a:t>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b="1" dirty="0">
                <a:ea typeface="宋体" charset="-122"/>
              </a:rPr>
              <a:t>}</a:t>
            </a:r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3B2CE5C6-2C09-4942-99C9-E2C14086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088" y="3014357"/>
            <a:ext cx="5688037" cy="1520969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sv-SE" altLang="zh-CN" b="1" dirty="0">
                <a:ea typeface="宋体" charset="-122"/>
              </a:rPr>
              <a:t>var fruit=[ "apple", "orange", "peach","banana"]; </a:t>
            </a:r>
          </a:p>
          <a:p>
            <a:pPr>
              <a:lnSpc>
                <a:spcPct val="130000"/>
              </a:lnSpc>
              <a:defRPr/>
            </a:pPr>
            <a:r>
              <a:rPr lang="sv-SE" altLang="zh-CN" b="1" dirty="0">
                <a:solidFill>
                  <a:srgbClr val="FF0000"/>
                </a:solidFill>
                <a:ea typeface="宋体" charset="-122"/>
              </a:rPr>
              <a:t>for(var i in fruit){</a:t>
            </a:r>
          </a:p>
          <a:p>
            <a:pPr>
              <a:lnSpc>
                <a:spcPct val="130000"/>
              </a:lnSpc>
              <a:defRPr/>
            </a:pPr>
            <a:r>
              <a:rPr lang="sv-SE" altLang="zh-CN" b="1" dirty="0">
                <a:solidFill>
                  <a:srgbClr val="FF0000"/>
                </a:solidFill>
                <a:ea typeface="宋体" charset="-122"/>
              </a:rPr>
              <a:t>       document.write(fruit[i]+"&lt;br/&gt;");</a:t>
            </a:r>
          </a:p>
          <a:p>
            <a:pPr>
              <a:lnSpc>
                <a:spcPct val="130000"/>
              </a:lnSpc>
              <a:defRPr/>
            </a:pPr>
            <a:r>
              <a:rPr lang="sv-SE" altLang="zh-CN" b="1" dirty="0">
                <a:solidFill>
                  <a:srgbClr val="FF0000"/>
                </a:solidFill>
                <a:ea typeface="宋体" charset="-122"/>
              </a:rPr>
              <a:t>}</a:t>
            </a:r>
            <a:endParaRPr lang="en-US" altLang="zh-CN" b="1" dirty="0">
              <a:ea typeface="宋体" charset="-122"/>
            </a:endParaRPr>
          </a:p>
        </p:txBody>
      </p:sp>
      <p:pic>
        <p:nvPicPr>
          <p:cNvPr id="10" name="Picture 2" descr="图1">
            <a:extLst>
              <a:ext uri="{FF2B5EF4-FFF2-40B4-BE49-F238E27FC236}">
                <a16:creationId xmlns:a16="http://schemas.microsoft.com/office/drawing/2014/main" id="{18DC3020-55E9-4368-8F6C-BB9E9EE2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14" y="4322247"/>
            <a:ext cx="3406943" cy="1553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97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B5CFE-C6CB-4C25-950E-2A5A2FCC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循环中断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5531C30-3689-4250-A1F3-E43C82B7312F}"/>
              </a:ext>
            </a:extLst>
          </p:cNvPr>
          <p:cNvSpPr txBox="1">
            <a:spLocks/>
          </p:cNvSpPr>
          <p:nvPr/>
        </p:nvSpPr>
        <p:spPr>
          <a:xfrm>
            <a:off x="790575" y="1308100"/>
            <a:ext cx="9163050" cy="5049838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altLang="zh-CN" sz="2800" dirty="0"/>
              <a:t>break</a:t>
            </a:r>
          </a:p>
          <a:p>
            <a:pPr>
              <a:defRPr/>
            </a:pPr>
            <a:r>
              <a:rPr lang="en-US" altLang="zh-CN" sz="2800" dirty="0"/>
              <a:t>continue</a:t>
            </a:r>
            <a:endParaRPr lang="zh-CN" altLang="en-US" sz="2800" dirty="0"/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D95D83E1-3C5B-4905-8F5F-5543BF664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77" y="2185132"/>
            <a:ext cx="5000625" cy="3295774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&lt;script type="text/javascript"&gt;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var i=0;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for(i=0;i&lt;=5;i++){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	if(i==3){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            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break;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  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document.write("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这个数字是：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"+i+"&lt;br/&gt;");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&lt;/script&gt;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14F0A45C-F41E-45F9-ADDC-31F93BB64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453" y="3113932"/>
            <a:ext cx="5000625" cy="3333750"/>
          </a:xfrm>
          <a:prstGeom prst="roundRect">
            <a:avLst>
              <a:gd name="adj" fmla="val 182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&lt;script type="text/javascript"&gt;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var i=0;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for(i=0;i&lt;=5;i++){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	if(i==3){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          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continue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document.write("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这个数字是：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"+i+"&lt;br/&gt;");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&lt;/script&gt;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A0EDF9-FB26-4D82-A497-B1F256AF3E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329" y="2276875"/>
            <a:ext cx="3410547" cy="15561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88203D6-4813-436B-A004-2528D57F78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166" y="4161793"/>
            <a:ext cx="3410547" cy="186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3E053-FC66-4D55-8E7A-7104A3AA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注释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B0CD75-5E1D-4FCC-A587-6EF80630A0F8}"/>
              </a:ext>
            </a:extLst>
          </p:cNvPr>
          <p:cNvSpPr txBox="1">
            <a:spLocks/>
          </p:cNvSpPr>
          <p:nvPr/>
        </p:nvSpPr>
        <p:spPr>
          <a:xfrm>
            <a:off x="771524" y="1323734"/>
            <a:ext cx="10460355" cy="3080625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单行注释以 </a:t>
            </a:r>
            <a:r>
              <a:rPr lang="en-US" altLang="zh-CN" sz="2800" dirty="0"/>
              <a:t>// </a:t>
            </a:r>
            <a:r>
              <a:rPr lang="zh-CN" altLang="en-US" sz="2800" dirty="0"/>
              <a:t>开始，以行末结束</a:t>
            </a:r>
            <a:endParaRPr lang="en-US" altLang="zh-CN" sz="2800" dirty="0"/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r>
              <a:rPr lang="zh-CN" altLang="en-US" sz="2600" dirty="0"/>
              <a:t>多行注释以 </a:t>
            </a:r>
            <a:r>
              <a:rPr lang="en-US" altLang="zh-CN" sz="2600" dirty="0"/>
              <a:t>/* </a:t>
            </a:r>
            <a:r>
              <a:rPr lang="zh-CN" altLang="en-US" sz="2600" dirty="0"/>
              <a:t>开始，以 *</a:t>
            </a:r>
            <a:r>
              <a:rPr lang="en-US" altLang="zh-CN" sz="2600" dirty="0"/>
              <a:t>/ </a:t>
            </a:r>
            <a:r>
              <a:rPr lang="zh-CN" altLang="en-US" sz="2600" dirty="0"/>
              <a:t>结束，符号 </a:t>
            </a:r>
            <a:r>
              <a:rPr lang="en-US" altLang="zh-CN" sz="2600" dirty="0"/>
              <a:t>/*…… */ </a:t>
            </a:r>
            <a:r>
              <a:rPr lang="zh-CN" altLang="en-US" sz="2600" dirty="0"/>
              <a:t>指示中间的语句是该程序中的注释</a:t>
            </a:r>
          </a:p>
          <a:p>
            <a:pPr lvl="1"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2ABD3126-F42B-4344-8F8E-12E7F01A6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488" y="2286587"/>
            <a:ext cx="7464425" cy="412485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alert("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恭喜你！注册会员成功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"); //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在页同上弹出注册会员成功的提示框</a:t>
            </a: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AEC01DD5-F553-428E-B651-7620BD70A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216" y="4616771"/>
            <a:ext cx="7500937" cy="1495281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/*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使用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for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循环运行“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document.write("&lt;h3&gt;Hello World&lt;/h3&gt;");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”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5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次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使用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document.write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在页面上输出“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Hello World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” 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*/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</p:txBody>
      </p:sp>
      <p:grpSp>
        <p:nvGrpSpPr>
          <p:cNvPr id="15" name="组合 70">
            <a:extLst>
              <a:ext uri="{FF2B5EF4-FFF2-40B4-BE49-F238E27FC236}">
                <a16:creationId xmlns:a16="http://schemas.microsoft.com/office/drawing/2014/main" id="{9C818E58-4A85-4913-BC32-8E8C20ACDB79}"/>
              </a:ext>
            </a:extLst>
          </p:cNvPr>
          <p:cNvGrpSpPr/>
          <p:nvPr/>
        </p:nvGrpSpPr>
        <p:grpSpPr bwMode="auto">
          <a:xfrm>
            <a:off x="1129032" y="2257906"/>
            <a:ext cx="1078259" cy="414337"/>
            <a:chOff x="921965" y="2536466"/>
            <a:chExt cx="1078267" cy="414475"/>
          </a:xfrm>
        </p:grpSpPr>
        <p:pic>
          <p:nvPicPr>
            <p:cNvPr id="16" name="Picture 8" descr="E:\设计\06-2018\前端5.0PPT\实例.png实例">
              <a:extLst>
                <a:ext uri="{FF2B5EF4-FFF2-40B4-BE49-F238E27FC236}">
                  <a16:creationId xmlns:a16="http://schemas.microsoft.com/office/drawing/2014/main" id="{975860B7-B8E5-4BB5-AD77-AD56AD2FCC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21965" y="2536466"/>
              <a:ext cx="414023" cy="4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89EEB731-2082-41F4-A6C8-CCAC37A9A7B5}"/>
                </a:ext>
              </a:extLst>
            </p:cNvPr>
            <p:cNvSpPr txBox="1"/>
            <p:nvPr/>
          </p:nvSpPr>
          <p:spPr>
            <a:xfrm>
              <a:off x="1300140" y="2536783"/>
              <a:ext cx="700092" cy="398596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示例</a:t>
              </a:r>
            </a:p>
          </p:txBody>
        </p:sp>
      </p:grpSp>
      <p:grpSp>
        <p:nvGrpSpPr>
          <p:cNvPr id="18" name="组合 70">
            <a:extLst>
              <a:ext uri="{FF2B5EF4-FFF2-40B4-BE49-F238E27FC236}">
                <a16:creationId xmlns:a16="http://schemas.microsoft.com/office/drawing/2014/main" id="{C3FF6B50-30FD-4D38-9077-FF196969400F}"/>
              </a:ext>
            </a:extLst>
          </p:cNvPr>
          <p:cNvGrpSpPr/>
          <p:nvPr/>
        </p:nvGrpSpPr>
        <p:grpSpPr bwMode="auto">
          <a:xfrm>
            <a:off x="1112236" y="4588051"/>
            <a:ext cx="1078259" cy="414337"/>
            <a:chOff x="921965" y="2536466"/>
            <a:chExt cx="1078267" cy="414475"/>
          </a:xfrm>
        </p:grpSpPr>
        <p:pic>
          <p:nvPicPr>
            <p:cNvPr id="19" name="Picture 8" descr="E:\设计\06-2018\前端5.0PPT\实例.png实例">
              <a:extLst>
                <a:ext uri="{FF2B5EF4-FFF2-40B4-BE49-F238E27FC236}">
                  <a16:creationId xmlns:a16="http://schemas.microsoft.com/office/drawing/2014/main" id="{752470DF-EC5F-47C2-8DB6-9215F8EF1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21965" y="2536466"/>
              <a:ext cx="414023" cy="4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4A9F0AC6-21EE-4BD2-9946-8F6D7A615418}"/>
                </a:ext>
              </a:extLst>
            </p:cNvPr>
            <p:cNvSpPr txBox="1"/>
            <p:nvPr/>
          </p:nvSpPr>
          <p:spPr>
            <a:xfrm>
              <a:off x="1300140" y="2536783"/>
              <a:ext cx="700092" cy="398596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示例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4432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171E2-75D9-4CDA-B075-02D06F4B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常用的输入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9C31599-5E2B-4427-9CCA-37505E1D5ABC}"/>
              </a:ext>
            </a:extLst>
          </p:cNvPr>
          <p:cNvSpPr txBox="1">
            <a:spLocks/>
          </p:cNvSpPr>
          <p:nvPr/>
        </p:nvSpPr>
        <p:spPr>
          <a:xfrm>
            <a:off x="790575" y="1308100"/>
            <a:ext cx="8180263" cy="1998538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altLang="zh-CN" sz="2800" dirty="0"/>
              <a:t>alert()</a:t>
            </a:r>
          </a:p>
          <a:p>
            <a:pPr>
              <a:defRPr/>
            </a:pP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prompt()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255E4BB0-E1CD-434F-9536-780EC5400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295" y="2183429"/>
            <a:ext cx="3405406" cy="448071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nb-NO" altLang="en-US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alert("提示信息");</a:t>
            </a:r>
            <a:endParaRPr lang="zh-CN" altLang="en-US" sz="2000" b="1" dirty="0">
              <a:solidFill>
                <a:schemeClr val="accent5">
                  <a:lumMod val="1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0B5C7C4-3292-45A3-9684-918814930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295" y="3784111"/>
            <a:ext cx="5375118" cy="1248290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prompt("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提示信息</a:t>
            </a: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", "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输入框的默认信息</a:t>
            </a: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");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prompt("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请输入你喜欢的颜色</a:t>
            </a: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","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红色</a:t>
            </a: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");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prompt("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请输入你喜欢的颜色</a:t>
            </a: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","");</a:t>
            </a:r>
            <a:endParaRPr lang="zh-CN" altLang="en-US" sz="2000" b="1" dirty="0">
              <a:solidFill>
                <a:schemeClr val="accent5">
                  <a:lumMod val="10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39D61B9-0BED-4FD2-8425-D01A055DFD11}"/>
              </a:ext>
            </a:extLst>
          </p:cNvPr>
          <p:cNvGrpSpPr/>
          <p:nvPr/>
        </p:nvGrpSpPr>
        <p:grpSpPr>
          <a:xfrm>
            <a:off x="1015188" y="2183429"/>
            <a:ext cx="1039495" cy="400050"/>
            <a:chOff x="1174750" y="2340610"/>
            <a:chExt cx="1039495" cy="4000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AE7BEA-33D3-4CCE-BB76-D1346509A93E}"/>
                </a:ext>
              </a:extLst>
            </p:cNvPr>
            <p:cNvSpPr txBox="1"/>
            <p:nvPr/>
          </p:nvSpPr>
          <p:spPr>
            <a:xfrm>
              <a:off x="1514475" y="2340610"/>
              <a:ext cx="699770" cy="40005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语法</a:t>
              </a:r>
            </a:p>
          </p:txBody>
        </p:sp>
        <p:pic>
          <p:nvPicPr>
            <p:cNvPr id="16" name="图片 15" descr="语法">
              <a:extLst>
                <a:ext uri="{FF2B5EF4-FFF2-40B4-BE49-F238E27FC236}">
                  <a16:creationId xmlns:a16="http://schemas.microsoft.com/office/drawing/2014/main" id="{D05168D8-0C0B-4E5B-9F3B-2066861D8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750" y="2340610"/>
              <a:ext cx="389890" cy="389890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F70077-30FA-4E2C-BF49-1BBD3C7B5A84}"/>
              </a:ext>
            </a:extLst>
          </p:cNvPr>
          <p:cNvGrpSpPr/>
          <p:nvPr/>
        </p:nvGrpSpPr>
        <p:grpSpPr>
          <a:xfrm>
            <a:off x="1015188" y="3828005"/>
            <a:ext cx="1039495" cy="400050"/>
            <a:chOff x="1174750" y="2340610"/>
            <a:chExt cx="1039495" cy="400050"/>
          </a:xfrm>
        </p:grpSpPr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8208B418-4842-4DF1-8813-80BEA26D38DC}"/>
                </a:ext>
              </a:extLst>
            </p:cNvPr>
            <p:cNvSpPr txBox="1"/>
            <p:nvPr/>
          </p:nvSpPr>
          <p:spPr>
            <a:xfrm>
              <a:off x="1514475" y="2340610"/>
              <a:ext cx="699770" cy="40005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语法</a:t>
              </a:r>
            </a:p>
          </p:txBody>
        </p:sp>
        <p:pic>
          <p:nvPicPr>
            <p:cNvPr id="19" name="图片 18" descr="语法">
              <a:extLst>
                <a:ext uri="{FF2B5EF4-FFF2-40B4-BE49-F238E27FC236}">
                  <a16:creationId xmlns:a16="http://schemas.microsoft.com/office/drawing/2014/main" id="{02C1B65D-60E7-494E-8852-FCA3AA376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750" y="2340610"/>
              <a:ext cx="389890" cy="389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326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7055F-ABAE-4095-B35C-EFE7AC87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核心语法</a:t>
            </a:r>
            <a:r>
              <a:rPr lang="en-US" altLang="zh-CN" dirty="0"/>
              <a:t>—</a:t>
            </a:r>
            <a:r>
              <a:rPr lang="zh-CN" altLang="en-US" dirty="0"/>
              <a:t>语法约定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916391-EEEA-4751-B3F4-58DB7FB23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代码区分大小写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变量、对象和函数的名称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分号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5169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2782C-DE63-47C8-B5FD-219768970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学员操作</a:t>
            </a:r>
            <a:r>
              <a:rPr lang="en-US" altLang="zh-CN" dirty="0"/>
              <a:t>—</a:t>
            </a:r>
            <a:r>
              <a:rPr lang="zh-CN" altLang="en-US" dirty="0"/>
              <a:t>统计字符串的个数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F620D-5B88-4BC5-A509-EE650BB3D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445" y="1308100"/>
            <a:ext cx="10687685" cy="481838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需求说明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统计包含“</a:t>
            </a:r>
            <a:r>
              <a:rPr lang="en-US" altLang="en-US" dirty="0"/>
              <a:t>a</a:t>
            </a:r>
            <a:r>
              <a:rPr lang="zh-CN" altLang="en-US" dirty="0"/>
              <a:t>”或“</a:t>
            </a:r>
            <a:r>
              <a:rPr lang="en-US" altLang="en-US" dirty="0"/>
              <a:t>A</a:t>
            </a:r>
            <a:r>
              <a:rPr lang="zh-CN" altLang="en-US" dirty="0"/>
              <a:t>”的字符串的个数</a:t>
            </a:r>
            <a:endParaRPr lang="en-US" altLang="zh-CN" dirty="0"/>
          </a:p>
          <a:p>
            <a:pPr lvl="1">
              <a:defRPr/>
            </a:pP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9" name="组合 19">
            <a:extLst>
              <a:ext uri="{FF2B5EF4-FFF2-40B4-BE49-F238E27FC236}">
                <a16:creationId xmlns:a16="http://schemas.microsoft.com/office/drawing/2014/main" id="{234025FC-5C73-423A-B767-36C39FD883AF}"/>
              </a:ext>
            </a:extLst>
          </p:cNvPr>
          <p:cNvGrpSpPr>
            <a:grpSpLocks/>
          </p:cNvGrpSpPr>
          <p:nvPr/>
        </p:nvGrpSpPr>
        <p:grpSpPr bwMode="auto">
          <a:xfrm>
            <a:off x="4044851" y="6071394"/>
            <a:ext cx="2786062" cy="428625"/>
            <a:chOff x="3679819" y="5142717"/>
            <a:chExt cx="2786082" cy="428628"/>
          </a:xfrm>
          <a:solidFill>
            <a:srgbClr val="00C77A"/>
          </a:solidFill>
        </p:grpSpPr>
        <p:sp>
          <p:nvSpPr>
            <p:cNvPr id="10" name="圆角矩形 15">
              <a:extLst>
                <a:ext uri="{FF2B5EF4-FFF2-40B4-BE49-F238E27FC236}">
                  <a16:creationId xmlns:a16="http://schemas.microsoft.com/office/drawing/2014/main" id="{55CE7E83-72C4-4EC4-9239-BFC2B651974D}"/>
                </a:ext>
              </a:extLst>
            </p:cNvPr>
            <p:cNvSpPr/>
            <p:nvPr/>
          </p:nvSpPr>
          <p:spPr bwMode="auto">
            <a:xfrm>
              <a:off x="3679819" y="5142717"/>
              <a:ext cx="2786082" cy="428628"/>
            </a:xfrm>
            <a:prstGeom prst="roundRect">
              <a:avLst/>
            </a:prstGeom>
            <a:grpFill/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84248146-A342-445B-9EA0-4167E38AA851}"/>
                </a:ext>
              </a:extLst>
            </p:cNvPr>
            <p:cNvSpPr txBox="1"/>
            <p:nvPr/>
          </p:nvSpPr>
          <p:spPr bwMode="auto">
            <a:xfrm>
              <a:off x="3962396" y="5187962"/>
              <a:ext cx="2220928" cy="338139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完成时间：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25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分钟</a:t>
              </a:r>
            </a:p>
          </p:txBody>
        </p:sp>
      </p:grpSp>
      <p:pic>
        <p:nvPicPr>
          <p:cNvPr id="12" name="Picture 2" descr="F:\2016年工作\ACCP8.0产品开发\jQuery\案例源码\chapter01\Chapter01截图\图1.15.BMP">
            <a:extLst>
              <a:ext uri="{FF2B5EF4-FFF2-40B4-BE49-F238E27FC236}">
                <a16:creationId xmlns:a16="http://schemas.microsoft.com/office/drawing/2014/main" id="{D31D8934-8FE5-4E71-9204-4A83A0DA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42" y="2836015"/>
            <a:ext cx="4279079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66">
            <a:extLst>
              <a:ext uri="{FF2B5EF4-FFF2-40B4-BE49-F238E27FC236}">
                <a16:creationId xmlns:a16="http://schemas.microsoft.com/office/drawing/2014/main" id="{FBDD8F8D-0C49-496D-B409-D443F17A7FB5}"/>
              </a:ext>
            </a:extLst>
          </p:cNvPr>
          <p:cNvGrpSpPr/>
          <p:nvPr/>
        </p:nvGrpSpPr>
        <p:grpSpPr bwMode="auto">
          <a:xfrm>
            <a:off x="0" y="1558290"/>
            <a:ext cx="1077050" cy="405765"/>
            <a:chOff x="3637818" y="1193279"/>
            <a:chExt cx="1077058" cy="405715"/>
          </a:xfrm>
        </p:grpSpPr>
        <p:sp>
          <p:nvSpPr>
            <p:cNvPr id="14" name="TextBox 24">
              <a:extLst>
                <a:ext uri="{FF2B5EF4-FFF2-40B4-BE49-F238E27FC236}">
                  <a16:creationId xmlns:a16="http://schemas.microsoft.com/office/drawing/2014/main" id="{F6E86705-90D7-4761-BAF6-4A1886BE46B6}"/>
                </a:ext>
              </a:extLst>
            </p:cNvPr>
            <p:cNvSpPr txBox="1"/>
            <p:nvPr/>
          </p:nvSpPr>
          <p:spPr>
            <a:xfrm>
              <a:off x="4014784" y="1196137"/>
              <a:ext cx="700092" cy="400001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练习</a:t>
              </a:r>
            </a:p>
          </p:txBody>
        </p:sp>
        <p:pic>
          <p:nvPicPr>
            <p:cNvPr id="15" name="Picture 2" descr="E:\设计\06-2018\前端5.0PPT\练习.png练习">
              <a:extLst>
                <a:ext uri="{FF2B5EF4-FFF2-40B4-BE49-F238E27FC236}">
                  <a16:creationId xmlns:a16="http://schemas.microsoft.com/office/drawing/2014/main" id="{12F400EA-E5FE-4DA3-A9F8-B58363E5E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637818" y="1193279"/>
              <a:ext cx="406403" cy="405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316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常见问题及解决办法</a:t>
            </a:r>
          </a:p>
          <a:p>
            <a:r>
              <a:rPr lang="zh-CN" altLang="en-US" dirty="0"/>
              <a:t>代码规范问题</a:t>
            </a:r>
          </a:p>
          <a:p>
            <a:r>
              <a:rPr lang="zh-CN" altLang="en-US" dirty="0"/>
              <a:t>调试技巧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t>共性问题集中讲解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300730" y="4230370"/>
            <a:ext cx="5363845" cy="1323340"/>
            <a:chOff x="4789" y="4099"/>
            <a:chExt cx="8447" cy="2084"/>
          </a:xfrm>
        </p:grpSpPr>
        <p:sp>
          <p:nvSpPr>
            <p:cNvPr id="9" name="矩形 8"/>
            <p:cNvSpPr/>
            <p:nvPr/>
          </p:nvSpPr>
          <p:spPr>
            <a:xfrm rot="2700000">
              <a:off x="5727" y="4099"/>
              <a:ext cx="395" cy="39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 rot="2700000">
              <a:off x="12181" y="4530"/>
              <a:ext cx="1055" cy="1055"/>
            </a:xfrm>
            <a:prstGeom prst="rect">
              <a:avLst/>
            </a:prstGeom>
            <a:noFill/>
            <a:ln w="57150">
              <a:solidFill>
                <a:srgbClr val="5CDBA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2700000">
              <a:off x="11207" y="5128"/>
              <a:ext cx="1055" cy="105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 Box 13"/>
            <p:cNvSpPr txBox="1">
              <a:spLocks noChangeArrowheads="1"/>
            </p:cNvSpPr>
            <p:nvPr/>
          </p:nvSpPr>
          <p:spPr bwMode="auto">
            <a:xfrm>
              <a:off x="5289" y="4521"/>
              <a:ext cx="7422" cy="145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</a:ln>
            <a:effectLst/>
          </p:spPr>
          <p:txBody>
            <a:bodyPr wrap="square" tIns="118800">
              <a:spAutoFit/>
            </a:bodyPr>
            <a:lstStyle/>
            <a:p>
              <a:pPr algn="ctr" eaLnBrk="0" fontAlgn="auto" hangingPunct="0">
                <a:spcAft>
                  <a:spcPts val="0"/>
                </a:spcAft>
                <a:defRPr/>
              </a:pPr>
              <a:r>
                <a:rPr lang="zh-CN" altLang="en-US" sz="3200" b="1" kern="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共性问题集中讲解   </a:t>
              </a:r>
            </a:p>
          </p:txBody>
        </p:sp>
        <p:sp>
          <p:nvSpPr>
            <p:cNvPr id="5" name="矩形 4"/>
            <p:cNvSpPr/>
            <p:nvPr/>
          </p:nvSpPr>
          <p:spPr>
            <a:xfrm rot="2700000">
              <a:off x="4789" y="4594"/>
              <a:ext cx="1219" cy="1219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2700000">
              <a:off x="5589" y="5426"/>
              <a:ext cx="671" cy="671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12344" y="5852"/>
              <a:ext cx="304" cy="304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321CC-17B2-4816-900B-7EEA09E8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591F3-AAD4-4107-9110-C672F69E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896620"/>
            <a:ext cx="10687685" cy="481838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Chrome</a:t>
            </a:r>
            <a:r>
              <a:rPr lang="zh-CN" altLang="en-US" dirty="0"/>
              <a:t>开发人员工具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停止断点调试</a:t>
            </a:r>
          </a:p>
          <a:p>
            <a:pPr lvl="1">
              <a:defRPr/>
            </a:pPr>
            <a:r>
              <a:rPr lang="zh-CN" altLang="en-US" dirty="0"/>
              <a:t>单步调试，不进入函数体内部</a:t>
            </a:r>
          </a:p>
          <a:p>
            <a:pPr lvl="1">
              <a:defRPr/>
            </a:pPr>
            <a:r>
              <a:rPr lang="zh-CN" altLang="en-US" dirty="0"/>
              <a:t>单步调试，进入函数体内部</a:t>
            </a:r>
          </a:p>
          <a:p>
            <a:pPr lvl="1">
              <a:defRPr/>
            </a:pPr>
            <a:r>
              <a:rPr lang="zh-CN" altLang="en-US" dirty="0"/>
              <a:t>跳出当前函数</a:t>
            </a:r>
          </a:p>
          <a:p>
            <a:pPr lvl="1">
              <a:defRPr/>
            </a:pPr>
            <a:r>
              <a:rPr lang="zh-CN" altLang="en-US" dirty="0"/>
              <a:t>禁用所有的断点，不做任何调试</a:t>
            </a:r>
          </a:p>
          <a:p>
            <a:pPr>
              <a:defRPr/>
            </a:pPr>
            <a:r>
              <a:rPr lang="en-US" altLang="zh-CN" dirty="0"/>
              <a:t>alert()</a:t>
            </a:r>
            <a:r>
              <a:rPr lang="en-US" altLang="zh-CN" dirty="0" err="1"/>
              <a:t>方法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CA64FAE-DA60-4601-9384-531B5DC9D3BE}"/>
              </a:ext>
            </a:extLst>
          </p:cNvPr>
          <p:cNvGrpSpPr/>
          <p:nvPr/>
        </p:nvGrpSpPr>
        <p:grpSpPr>
          <a:xfrm>
            <a:off x="3888105" y="6202680"/>
            <a:ext cx="3597275" cy="582930"/>
            <a:chOff x="944880" y="1589405"/>
            <a:chExt cx="3597275" cy="582930"/>
          </a:xfrm>
        </p:grpSpPr>
        <p:sp>
          <p:nvSpPr>
            <p:cNvPr id="12" name="圆角矩形 4">
              <a:extLst>
                <a:ext uri="{FF2B5EF4-FFF2-40B4-BE49-F238E27FC236}">
                  <a16:creationId xmlns:a16="http://schemas.microsoft.com/office/drawing/2014/main" id="{46F3EFB3-EE15-493C-BB6A-3E784E452E99}"/>
                </a:ext>
              </a:extLst>
            </p:cNvPr>
            <p:cNvSpPr/>
            <p:nvPr/>
          </p:nvSpPr>
          <p:spPr>
            <a:xfrm>
              <a:off x="944880" y="1589405"/>
              <a:ext cx="3597275" cy="582930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7D20A20-D3DA-40D2-B18A-3A1F5165310A}"/>
                </a:ext>
              </a:extLst>
            </p:cNvPr>
            <p:cNvSpPr txBox="1"/>
            <p:nvPr/>
          </p:nvSpPr>
          <p:spPr>
            <a:xfrm>
              <a:off x="1667481" y="1671955"/>
              <a:ext cx="28055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000" b="1" dirty="0">
                  <a:solidFill>
                    <a:srgbClr val="00C7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2000" b="1" dirty="0">
                  <a:solidFill>
                    <a:srgbClr val="00C7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>
                  <a:solidFill>
                    <a:srgbClr val="00C7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rPr>
                <a:t>程序调试</a:t>
              </a:r>
              <a:endParaRPr lang="zh-CN" altLang="en-US" sz="2000" b="1" dirty="0">
                <a:solidFill>
                  <a:srgbClr val="00C77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67">
              <a:extLst>
                <a:ext uri="{FF2B5EF4-FFF2-40B4-BE49-F238E27FC236}">
                  <a16:creationId xmlns:a16="http://schemas.microsoft.com/office/drawing/2014/main" id="{E0F36486-F611-4278-97D9-80EAD329A05A}"/>
                </a:ext>
              </a:extLst>
            </p:cNvPr>
            <p:cNvGrpSpPr/>
            <p:nvPr/>
          </p:nvGrpSpPr>
          <p:grpSpPr bwMode="auto">
            <a:xfrm>
              <a:off x="1071692" y="1649571"/>
              <a:ext cx="720090" cy="467995"/>
              <a:chOff x="6071563" y="1124092"/>
              <a:chExt cx="720153" cy="467999"/>
            </a:xfrm>
          </p:grpSpPr>
          <p:pic>
            <p:nvPicPr>
              <p:cNvPr id="15" name="Picture 13" descr="E:\设计\06-2018\前端5.0PPT\辅导.png辅导">
                <a:extLst>
                  <a:ext uri="{FF2B5EF4-FFF2-40B4-BE49-F238E27FC236}">
                    <a16:creationId xmlns:a16="http://schemas.microsoft.com/office/drawing/2014/main" id="{220C313C-A26A-4895-8719-BEBD3E126A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071563" y="1124092"/>
                <a:ext cx="468036" cy="467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TextBox 53">
                <a:extLst>
                  <a:ext uri="{FF2B5EF4-FFF2-40B4-BE49-F238E27FC236}">
                    <a16:creationId xmlns:a16="http://schemas.microsoft.com/office/drawing/2014/main" id="{BFDBF78B-65B0-4D29-9DB9-4C3295D1472E}"/>
                  </a:ext>
                </a:extLst>
              </p:cNvPr>
              <p:cNvSpPr txBox="1"/>
              <p:nvPr/>
            </p:nvSpPr>
            <p:spPr>
              <a:xfrm>
                <a:off x="6481809" y="1172194"/>
                <a:ext cx="309907" cy="398783"/>
              </a:xfrm>
              <a:prstGeom prst="rect">
                <a:avLst/>
              </a:prstGeom>
              <a:noFill/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556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AFEFB-2D54-441D-B846-67773F93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学员操作</a:t>
            </a:r>
            <a:r>
              <a:rPr lang="en-US" altLang="zh-CN" dirty="0"/>
              <a:t>—</a:t>
            </a:r>
            <a:r>
              <a:rPr lang="zh-CN" altLang="en-US" dirty="0"/>
              <a:t>调试程序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09A5C8E-1B4B-4CAC-B2E7-0E7C845ADBA9}"/>
              </a:ext>
            </a:extLst>
          </p:cNvPr>
          <p:cNvSpPr txBox="1">
            <a:spLocks/>
          </p:cNvSpPr>
          <p:nvPr/>
        </p:nvSpPr>
        <p:spPr>
          <a:xfrm>
            <a:off x="790575" y="1325252"/>
            <a:ext cx="7645400" cy="1134442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zh-CN" altLang="en-US" sz="2800" dirty="0"/>
              <a:t>需求说明</a:t>
            </a:r>
            <a:endParaRPr lang="en-US" altLang="zh-CN" sz="2800" dirty="0"/>
          </a:p>
          <a:p>
            <a:pPr lvl="1">
              <a:lnSpc>
                <a:spcPct val="100000"/>
              </a:lnSpc>
              <a:defRPr/>
            </a:pPr>
            <a:r>
              <a:rPr lang="zh-CN" altLang="en-US" sz="2600" dirty="0"/>
              <a:t>使用</a:t>
            </a:r>
            <a:r>
              <a:rPr lang="en-US" altLang="zh-CN" sz="2600" dirty="0"/>
              <a:t>alert()</a:t>
            </a:r>
            <a:r>
              <a:rPr lang="zh-CN" altLang="en-US" sz="2600" dirty="0"/>
              <a:t>和</a:t>
            </a:r>
            <a:r>
              <a:rPr lang="en-US" altLang="zh-CN" sz="2600" dirty="0" err="1"/>
              <a:t>Chorme</a:t>
            </a:r>
            <a:r>
              <a:rPr lang="zh-CN" altLang="en-US" sz="2600" dirty="0"/>
              <a:t>开发人员工具相结合的方式</a:t>
            </a:r>
            <a:r>
              <a:rPr lang="en-US" altLang="zh-CN" sz="2600" dirty="0" err="1"/>
              <a:t>调试程序</a:t>
            </a:r>
            <a:endParaRPr lang="zh-CN" altLang="en-US" sz="2600" dirty="0"/>
          </a:p>
        </p:txBody>
      </p:sp>
      <p:grpSp>
        <p:nvGrpSpPr>
          <p:cNvPr id="6" name="组合 19">
            <a:extLst>
              <a:ext uri="{FF2B5EF4-FFF2-40B4-BE49-F238E27FC236}">
                <a16:creationId xmlns:a16="http://schemas.microsoft.com/office/drawing/2014/main" id="{C87F729F-F5DF-4AA3-ABD0-960CE5C42378}"/>
              </a:ext>
            </a:extLst>
          </p:cNvPr>
          <p:cNvGrpSpPr>
            <a:grpSpLocks/>
          </p:cNvGrpSpPr>
          <p:nvPr/>
        </p:nvGrpSpPr>
        <p:grpSpPr bwMode="auto">
          <a:xfrm>
            <a:off x="4156884" y="6103994"/>
            <a:ext cx="2786062" cy="428625"/>
            <a:chOff x="3714744" y="5143512"/>
            <a:chExt cx="2786082" cy="428628"/>
          </a:xfrm>
          <a:solidFill>
            <a:srgbClr val="00C77A"/>
          </a:solidFill>
        </p:grpSpPr>
        <p:sp>
          <p:nvSpPr>
            <p:cNvPr id="7" name="圆角矩形 13">
              <a:extLst>
                <a:ext uri="{FF2B5EF4-FFF2-40B4-BE49-F238E27FC236}">
                  <a16:creationId xmlns:a16="http://schemas.microsoft.com/office/drawing/2014/main" id="{8E4263FD-9EC3-4983-A360-2664CA28E401}"/>
                </a:ext>
              </a:extLst>
            </p:cNvPr>
            <p:cNvSpPr/>
            <p:nvPr/>
          </p:nvSpPr>
          <p:spPr bwMode="auto">
            <a:xfrm>
              <a:off x="3714744" y="5143512"/>
              <a:ext cx="2786082" cy="428628"/>
            </a:xfrm>
            <a:prstGeom prst="roundRect">
              <a:avLst/>
            </a:prstGeom>
            <a:grpFill/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CDBD4E93-F207-4760-A2C0-0813683A51A8}"/>
                </a:ext>
              </a:extLst>
            </p:cNvPr>
            <p:cNvSpPr txBox="1"/>
            <p:nvPr/>
          </p:nvSpPr>
          <p:spPr bwMode="auto">
            <a:xfrm>
              <a:off x="3962396" y="5187962"/>
              <a:ext cx="2220928" cy="339727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完成时间：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分钟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5B91FEB7-3FA8-41DF-BD0A-81AF125D53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97" y="2902098"/>
            <a:ext cx="5265203" cy="20749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CC5BD6-A1A7-41A1-BF01-76A2B8F201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509" y="2537372"/>
            <a:ext cx="5407855" cy="24769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4F9D125-4AF7-431D-A0BB-4C1894A029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519" y="3664312"/>
            <a:ext cx="3410709" cy="2049019"/>
          </a:xfrm>
          <a:prstGeom prst="rect">
            <a:avLst/>
          </a:prstGeom>
        </p:spPr>
      </p:pic>
      <p:grpSp>
        <p:nvGrpSpPr>
          <p:cNvPr id="15" name="组合 67">
            <a:extLst>
              <a:ext uri="{FF2B5EF4-FFF2-40B4-BE49-F238E27FC236}">
                <a16:creationId xmlns:a16="http://schemas.microsoft.com/office/drawing/2014/main" id="{0EAFF45D-07DC-43DD-947E-BABA3F554FE4}"/>
              </a:ext>
            </a:extLst>
          </p:cNvPr>
          <p:cNvGrpSpPr/>
          <p:nvPr/>
        </p:nvGrpSpPr>
        <p:grpSpPr bwMode="auto">
          <a:xfrm>
            <a:off x="235426" y="2331474"/>
            <a:ext cx="1110297" cy="467995"/>
            <a:chOff x="6071563" y="1124092"/>
            <a:chExt cx="1110394" cy="467999"/>
          </a:xfrm>
        </p:grpSpPr>
        <p:pic>
          <p:nvPicPr>
            <p:cNvPr id="16" name="Picture 13" descr="E:\设计\06-2018\前端5.0PPT\辅导.png辅导">
              <a:extLst>
                <a:ext uri="{FF2B5EF4-FFF2-40B4-BE49-F238E27FC236}">
                  <a16:creationId xmlns:a16="http://schemas.microsoft.com/office/drawing/2014/main" id="{21A6554D-B65E-411F-9869-5BA34999C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071563" y="1124092"/>
              <a:ext cx="468036" cy="467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53">
              <a:extLst>
                <a:ext uri="{FF2B5EF4-FFF2-40B4-BE49-F238E27FC236}">
                  <a16:creationId xmlns:a16="http://schemas.microsoft.com/office/drawing/2014/main" id="{D0053C3D-BF8C-46CB-A89A-071E1C3CB3FE}"/>
                </a:ext>
              </a:extLst>
            </p:cNvPr>
            <p:cNvSpPr txBox="1"/>
            <p:nvPr/>
          </p:nvSpPr>
          <p:spPr>
            <a:xfrm>
              <a:off x="6481809" y="1171559"/>
              <a:ext cx="700148" cy="400053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指导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313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常见问题及解决办法</a:t>
            </a:r>
          </a:p>
          <a:p>
            <a:r>
              <a:rPr lang="zh-CN" altLang="en-US"/>
              <a:t>代码规范问题</a:t>
            </a:r>
          </a:p>
          <a:p>
            <a:r>
              <a:rPr lang="zh-CN" altLang="en-US"/>
              <a:t>调试技巧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t>共性问题集中讲解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300730" y="4230370"/>
            <a:ext cx="5363845" cy="1323340"/>
            <a:chOff x="4789" y="4099"/>
            <a:chExt cx="8447" cy="2084"/>
          </a:xfrm>
        </p:grpSpPr>
        <p:sp>
          <p:nvSpPr>
            <p:cNvPr id="9" name="矩形 8"/>
            <p:cNvSpPr/>
            <p:nvPr/>
          </p:nvSpPr>
          <p:spPr>
            <a:xfrm rot="2700000">
              <a:off x="5727" y="4099"/>
              <a:ext cx="395" cy="39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 rot="2700000">
              <a:off x="12181" y="4530"/>
              <a:ext cx="1055" cy="1055"/>
            </a:xfrm>
            <a:prstGeom prst="rect">
              <a:avLst/>
            </a:prstGeom>
            <a:noFill/>
            <a:ln w="57150">
              <a:solidFill>
                <a:srgbClr val="5CDBA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2700000">
              <a:off x="11207" y="5128"/>
              <a:ext cx="1055" cy="105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 Box 13"/>
            <p:cNvSpPr txBox="1">
              <a:spLocks noChangeArrowheads="1"/>
            </p:cNvSpPr>
            <p:nvPr/>
          </p:nvSpPr>
          <p:spPr bwMode="auto">
            <a:xfrm>
              <a:off x="5289" y="4521"/>
              <a:ext cx="7422" cy="145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</a:ln>
            <a:effectLst/>
          </p:spPr>
          <p:txBody>
            <a:bodyPr wrap="square" tIns="118800">
              <a:spAutoFit/>
            </a:bodyPr>
            <a:lstStyle/>
            <a:p>
              <a:pPr algn="ctr" eaLnBrk="0" fontAlgn="auto" hangingPunct="0">
                <a:spcAft>
                  <a:spcPts val="0"/>
                </a:spcAft>
                <a:defRPr/>
              </a:pPr>
              <a:r>
                <a:rPr lang="zh-CN" altLang="en-US" sz="3200" b="1" kern="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共性问题集中讲解   </a:t>
              </a:r>
            </a:p>
          </p:txBody>
        </p:sp>
        <p:sp>
          <p:nvSpPr>
            <p:cNvPr id="5" name="矩形 4"/>
            <p:cNvSpPr/>
            <p:nvPr/>
          </p:nvSpPr>
          <p:spPr>
            <a:xfrm rot="2700000">
              <a:off x="4789" y="4594"/>
              <a:ext cx="1219" cy="1219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2700000">
              <a:off x="5589" y="5426"/>
              <a:ext cx="671" cy="671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12344" y="5852"/>
              <a:ext cx="304" cy="304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DCCB2-96AD-4099-AA56-F44FC2E3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9CB74-4E07-4224-A960-3DDEC545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函数</a:t>
            </a:r>
            <a:r>
              <a:rPr lang="zh-CN" altLang="en-US" dirty="0">
                <a:solidFill>
                  <a:srgbClr val="404040"/>
                </a:solidFill>
              </a:rPr>
              <a:t>的含义：</a:t>
            </a:r>
            <a:r>
              <a:rPr lang="zh-CN" altLang="zh-CN" dirty="0">
                <a:solidFill>
                  <a:srgbClr val="404040"/>
                </a:solidFill>
              </a:rPr>
              <a:t>函数是执行特定功能的</a:t>
            </a:r>
            <a:r>
              <a:rPr lang="en-US" altLang="zh-CN" dirty="0">
                <a:solidFill>
                  <a:srgbClr val="404040"/>
                </a:solidFill>
              </a:rPr>
              <a:t>JavaScript</a:t>
            </a:r>
            <a:r>
              <a:rPr lang="zh-CN" altLang="zh-CN" dirty="0">
                <a:solidFill>
                  <a:srgbClr val="404040"/>
                </a:solidFill>
              </a:rPr>
              <a:t>代码块</a:t>
            </a:r>
            <a:endParaRPr lang="en-US" altLang="zh-CN" dirty="0">
              <a:solidFill>
                <a:srgbClr val="404040"/>
              </a:solidFill>
            </a:endParaRPr>
          </a:p>
          <a:p>
            <a:pPr>
              <a:defRPr/>
            </a:pPr>
            <a:r>
              <a:rPr lang="zh-CN" altLang="en-US" dirty="0">
                <a:solidFill>
                  <a:srgbClr val="404040"/>
                </a:solidFill>
              </a:rPr>
              <a:t>使用更简单：不用</a:t>
            </a:r>
            <a:r>
              <a:rPr lang="zh-CN" altLang="en-US" dirty="0"/>
              <a:t>定义属于某个类，直接使用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函数分类：系统函数和自定义函数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3047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E487A-0553-414E-B7C4-5907C7E3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常用系统函数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598E08-75D0-4A00-8E6B-8C54555F0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1218356"/>
            <a:ext cx="10687685" cy="4818380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en-US" altLang="zh-CN" dirty="0" err="1">
                <a:solidFill>
                  <a:srgbClr val="FF0000"/>
                </a:solidFill>
              </a:rPr>
              <a:t>parseInt</a:t>
            </a:r>
            <a:r>
              <a:rPr lang="en-US" altLang="zh-CN" dirty="0">
                <a:solidFill>
                  <a:srgbClr val="FF0000"/>
                </a:solidFill>
              </a:rPr>
              <a:t> (</a:t>
            </a:r>
            <a:r>
              <a:rPr lang="zh-CN" altLang="zh-CN" dirty="0">
                <a:solidFill>
                  <a:srgbClr val="FF0000"/>
                </a:solidFill>
              </a:rPr>
              <a:t>"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zh-CN" altLang="zh-CN" dirty="0">
                <a:solidFill>
                  <a:srgbClr val="FF0000"/>
                </a:solidFill>
              </a:rPr>
              <a:t>"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zh-CN" altLang="en-US" dirty="0"/>
              <a:t>将字符串转换为整型数字 </a:t>
            </a:r>
          </a:p>
          <a:p>
            <a:pPr lvl="1"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zh-CN" altLang="en-US" dirty="0"/>
              <a:t>如</a:t>
            </a:r>
            <a:r>
              <a:rPr lang="en-US" altLang="zh-CN" dirty="0"/>
              <a:t>: </a:t>
            </a:r>
            <a:r>
              <a:rPr lang="en-US" altLang="zh-CN" dirty="0" err="1"/>
              <a:t>parseInt</a:t>
            </a:r>
            <a:r>
              <a:rPr lang="en-US" altLang="zh-CN" dirty="0"/>
              <a:t> (</a:t>
            </a:r>
            <a:r>
              <a:rPr lang="zh-CN" altLang="zh-CN" dirty="0"/>
              <a:t>"</a:t>
            </a:r>
            <a:r>
              <a:rPr lang="en-US" altLang="zh-CN" dirty="0"/>
              <a:t>86</a:t>
            </a:r>
            <a:r>
              <a:rPr lang="zh-CN" altLang="zh-CN" dirty="0"/>
              <a:t>"</a:t>
            </a:r>
            <a:r>
              <a:rPr lang="en-US" altLang="zh-CN" dirty="0"/>
              <a:t>)</a:t>
            </a:r>
            <a:r>
              <a:rPr lang="zh-CN" altLang="en-US" dirty="0"/>
              <a:t>将字符串“</a:t>
            </a:r>
            <a:r>
              <a:rPr lang="en-US" altLang="zh-CN" dirty="0"/>
              <a:t>86</a:t>
            </a:r>
            <a:r>
              <a:rPr lang="zh-CN" altLang="en-US" dirty="0"/>
              <a:t>“转换为整型值</a:t>
            </a:r>
            <a:r>
              <a:rPr lang="en-US" altLang="zh-CN" dirty="0"/>
              <a:t>86</a:t>
            </a:r>
          </a:p>
          <a:p>
            <a:pPr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en-US" altLang="zh-CN" dirty="0" err="1">
                <a:solidFill>
                  <a:srgbClr val="FF0000"/>
                </a:solidFill>
              </a:rPr>
              <a:t>p</a:t>
            </a:r>
            <a:r>
              <a:rPr lang="en-US" altLang="en-US" dirty="0" err="1">
                <a:solidFill>
                  <a:srgbClr val="FF0000"/>
                </a:solidFill>
              </a:rPr>
              <a:t>arseFloat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zh-CN" dirty="0">
                <a:solidFill>
                  <a:srgbClr val="FF0000"/>
                </a:solidFill>
              </a:rPr>
              <a:t>"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zh-CN" altLang="zh-CN" dirty="0">
                <a:solidFill>
                  <a:srgbClr val="FF0000"/>
                </a:solidFill>
              </a:rPr>
              <a:t>"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zh-CN" altLang="en-US" dirty="0"/>
              <a:t>将字符串转换为浮点型数字 </a:t>
            </a:r>
          </a:p>
          <a:p>
            <a:pPr lvl="1"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zh-CN" altLang="en-US" dirty="0"/>
              <a:t>如</a:t>
            </a:r>
            <a:r>
              <a:rPr lang="en-US" altLang="zh-CN" dirty="0"/>
              <a:t>: </a:t>
            </a:r>
            <a:r>
              <a:rPr lang="en-US" altLang="zh-CN" dirty="0" err="1"/>
              <a:t>parseFloat</a:t>
            </a:r>
            <a:r>
              <a:rPr lang="en-US" altLang="zh-CN" dirty="0"/>
              <a:t>(</a:t>
            </a:r>
            <a:r>
              <a:rPr lang="zh-CN" altLang="zh-CN" dirty="0"/>
              <a:t>"</a:t>
            </a:r>
            <a:r>
              <a:rPr lang="en-US" altLang="zh-CN" dirty="0"/>
              <a:t>34.45</a:t>
            </a:r>
            <a:r>
              <a:rPr lang="zh-CN" altLang="zh-CN" dirty="0"/>
              <a:t>"</a:t>
            </a:r>
            <a:r>
              <a:rPr lang="en-US" altLang="zh-CN" dirty="0"/>
              <a:t>)</a:t>
            </a:r>
            <a:r>
              <a:rPr lang="zh-CN" altLang="en-US" dirty="0"/>
              <a:t>将字符串“</a:t>
            </a:r>
            <a:r>
              <a:rPr lang="en-US" altLang="zh-CN" dirty="0"/>
              <a:t>34.45</a:t>
            </a:r>
            <a:r>
              <a:rPr lang="zh-CN" altLang="en-US" dirty="0"/>
              <a:t>“转换为浮点值</a:t>
            </a:r>
            <a:r>
              <a:rPr lang="en-US" altLang="zh-CN" dirty="0"/>
              <a:t>34.45</a:t>
            </a:r>
          </a:p>
          <a:p>
            <a:pPr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en-US" altLang="zh-CN" dirty="0" err="1">
                <a:solidFill>
                  <a:srgbClr val="FF0000"/>
                </a:solidFill>
              </a:rPr>
              <a:t>isNaN</a:t>
            </a:r>
            <a:r>
              <a:rPr lang="en-US" altLang="zh-CN" dirty="0">
                <a:solidFill>
                  <a:srgbClr val="FF0000"/>
                </a:solidFill>
              </a:rPr>
              <a:t>()</a:t>
            </a:r>
          </a:p>
          <a:p>
            <a:pPr lvl="1">
              <a:lnSpc>
                <a:spcPct val="100000"/>
              </a:lnSpc>
              <a:buClr>
                <a:srgbClr val="00C77A"/>
              </a:buClr>
              <a:buSzPct val="100000"/>
            </a:pPr>
            <a:r>
              <a:rPr lang="zh-CN" altLang="en-US" dirty="0"/>
              <a:t>用于检查其参数是否是非数字</a:t>
            </a:r>
            <a:endParaRPr lang="en-US" altLang="zh-CN" dirty="0"/>
          </a:p>
          <a:p>
            <a:pPr>
              <a:lnSpc>
                <a:spcPct val="100000"/>
              </a:lnSpc>
              <a:buClr>
                <a:srgbClr val="00C77A"/>
              </a:buClr>
            </a:pP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E05401-F9E2-47F0-BA45-2A5711962828}"/>
              </a:ext>
            </a:extLst>
          </p:cNvPr>
          <p:cNvGrpSpPr/>
          <p:nvPr/>
        </p:nvGrpSpPr>
        <p:grpSpPr>
          <a:xfrm>
            <a:off x="3710940" y="5998874"/>
            <a:ext cx="4770120" cy="582930"/>
            <a:chOff x="944880" y="1589405"/>
            <a:chExt cx="4770120" cy="582930"/>
          </a:xfrm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9BCB3BA8-1441-4859-B7A1-B5666A580AE0}"/>
                </a:ext>
              </a:extLst>
            </p:cNvPr>
            <p:cNvSpPr/>
            <p:nvPr/>
          </p:nvSpPr>
          <p:spPr>
            <a:xfrm>
              <a:off x="944880" y="1589405"/>
              <a:ext cx="4343400" cy="582930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8BFE588-570A-4C67-927D-C18FC03C92BF}"/>
                </a:ext>
              </a:extLst>
            </p:cNvPr>
            <p:cNvSpPr txBox="1"/>
            <p:nvPr/>
          </p:nvSpPr>
          <p:spPr>
            <a:xfrm>
              <a:off x="1047836" y="1671955"/>
              <a:ext cx="4667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r>
                <a:rPr lang="zh-CN" altLang="en-US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rPr>
                <a:t>：类型转换函数</a:t>
              </a:r>
            </a:p>
          </p:txBody>
        </p:sp>
        <p:grpSp>
          <p:nvGrpSpPr>
            <p:cNvPr id="7" name="组合 67">
              <a:extLst>
                <a:ext uri="{FF2B5EF4-FFF2-40B4-BE49-F238E27FC236}">
                  <a16:creationId xmlns:a16="http://schemas.microsoft.com/office/drawing/2014/main" id="{115CA815-080E-4DDA-8C66-0FF17FB8330C}"/>
                </a:ext>
              </a:extLst>
            </p:cNvPr>
            <p:cNvGrpSpPr/>
            <p:nvPr/>
          </p:nvGrpSpPr>
          <p:grpSpPr bwMode="auto">
            <a:xfrm>
              <a:off x="1071692" y="1649571"/>
              <a:ext cx="720090" cy="467995"/>
              <a:chOff x="6071563" y="1124092"/>
              <a:chExt cx="720153" cy="467999"/>
            </a:xfrm>
          </p:grpSpPr>
          <p:pic>
            <p:nvPicPr>
              <p:cNvPr id="8" name="Picture 13" descr="E:\设计\06-2018\前端5.0PPT\辅导.png辅导">
                <a:extLst>
                  <a:ext uri="{FF2B5EF4-FFF2-40B4-BE49-F238E27FC236}">
                    <a16:creationId xmlns:a16="http://schemas.microsoft.com/office/drawing/2014/main" id="{DD4302EC-7498-4B7E-97A9-7B9D08A332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071563" y="1124092"/>
                <a:ext cx="468036" cy="467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TextBox 53">
                <a:extLst>
                  <a:ext uri="{FF2B5EF4-FFF2-40B4-BE49-F238E27FC236}">
                    <a16:creationId xmlns:a16="http://schemas.microsoft.com/office/drawing/2014/main" id="{91F7DAFC-8FF0-43C1-A7D4-F6411D8B51A8}"/>
                  </a:ext>
                </a:extLst>
              </p:cNvPr>
              <p:cNvSpPr txBox="1"/>
              <p:nvPr/>
            </p:nvSpPr>
            <p:spPr>
              <a:xfrm>
                <a:off x="6481809" y="1172194"/>
                <a:ext cx="309907" cy="398783"/>
              </a:xfrm>
              <a:prstGeom prst="rect">
                <a:avLst/>
              </a:prstGeom>
              <a:noFill/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094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0822B-E775-4522-AD33-EABAED7B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自定义函数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9C22744-C620-4F66-99F2-AC7CC260831B}"/>
              </a:ext>
            </a:extLst>
          </p:cNvPr>
          <p:cNvCxnSpPr/>
          <p:nvPr/>
        </p:nvCxnSpPr>
        <p:spPr bwMode="auto">
          <a:xfrm flipV="1">
            <a:off x="7310446" y="2165344"/>
            <a:ext cx="642942" cy="142876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28A8590-6464-40D5-9218-934E32FE220A}"/>
              </a:ext>
            </a:extLst>
          </p:cNvPr>
          <p:cNvCxnSpPr/>
          <p:nvPr/>
        </p:nvCxnSpPr>
        <p:spPr bwMode="auto">
          <a:xfrm>
            <a:off x="7310446" y="2451096"/>
            <a:ext cx="642942" cy="214314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63DD32C-8D2C-42BF-84BC-89851E494EBE}"/>
              </a:ext>
            </a:extLst>
          </p:cNvPr>
          <p:cNvSpPr txBox="1">
            <a:spLocks/>
          </p:cNvSpPr>
          <p:nvPr/>
        </p:nvSpPr>
        <p:spPr>
          <a:xfrm>
            <a:off x="771525" y="1308100"/>
            <a:ext cx="10096502" cy="5049838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定义函数</a:t>
            </a:r>
            <a:endParaRPr lang="en-US" altLang="zh-CN" sz="2800" dirty="0"/>
          </a:p>
          <a:p>
            <a:pPr>
              <a:defRPr/>
            </a:pPr>
            <a:endParaRPr lang="en-US" altLang="zh-CN" sz="2800" dirty="0"/>
          </a:p>
          <a:p>
            <a:pPr>
              <a:defRPr/>
            </a:pPr>
            <a:endParaRPr lang="en-US" altLang="zh-CN" sz="2800" dirty="0"/>
          </a:p>
          <a:p>
            <a:pPr lvl="3">
              <a:defRPr/>
            </a:pPr>
            <a:endParaRPr lang="en-US" altLang="zh-CN" sz="1725" dirty="0"/>
          </a:p>
          <a:p>
            <a:pPr>
              <a:defRPr/>
            </a:pPr>
            <a:r>
              <a:rPr lang="zh-CN" altLang="en-US" sz="2800" dirty="0"/>
              <a:t>调用函数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600" dirty="0"/>
              <a:t>函数调用一般和表单元素的事件一起使用，调用格式</a:t>
            </a:r>
            <a:endParaRPr lang="en-US" altLang="zh-CN" sz="2600" dirty="0"/>
          </a:p>
          <a:p>
            <a:pPr marL="457200" lvl="1" indent="0">
              <a:buNone/>
              <a:defRPr/>
            </a:pPr>
            <a:r>
              <a:rPr lang="en-US" altLang="zh-CN" dirty="0"/>
              <a:t>         </a:t>
            </a:r>
            <a:endParaRPr lang="zh-CN" altLang="en-US" dirty="0"/>
          </a:p>
          <a:p>
            <a:pPr>
              <a:defRPr/>
            </a:pPr>
            <a:endParaRPr lang="en-US" altLang="zh-CN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CB65C535-3B36-4740-87AE-DAFE6726D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6" y="2071688"/>
            <a:ext cx="4786313" cy="1714500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defTabSz="7239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黑体" pitchFamily="2" charset="-122"/>
              </a:rPr>
              <a:t>function 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ea typeface="黑体" pitchFamily="2" charset="-122"/>
              </a:rPr>
              <a:t>函数名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黑体" pitchFamily="2" charset="-122"/>
              </a:rPr>
              <a:t>(                                        </a:t>
            </a:r>
            <a:r>
              <a:rPr lang="en-US" altLang="zh-CN" b="1" dirty="0">
                <a:ea typeface="黑体" pitchFamily="2" charset="-122"/>
              </a:rPr>
              <a:t>){</a:t>
            </a:r>
            <a:endParaRPr lang="zh-CN" altLang="en-US" b="1" dirty="0">
              <a:ea typeface="黑体" pitchFamily="2" charset="-122"/>
            </a:endParaRPr>
          </a:p>
          <a:p>
            <a:pPr defTabSz="7239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黑体" pitchFamily="2" charset="-122"/>
              </a:rPr>
              <a:t>     //JavaScript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ea typeface="黑体" pitchFamily="2" charset="-122"/>
              </a:rPr>
              <a:t>语句</a:t>
            </a:r>
          </a:p>
          <a:p>
            <a:pPr defTabSz="7239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     </a:t>
            </a:r>
            <a:r>
              <a:rPr lang="en-US" altLang="zh-CN" b="1" dirty="0">
                <a:ea typeface="黑体" pitchFamily="2" charset="-122"/>
              </a:rPr>
              <a:t>[return </a:t>
            </a:r>
            <a:r>
              <a:rPr lang="zh-CN" altLang="en-US" b="1" dirty="0">
                <a:ea typeface="黑体" pitchFamily="2" charset="-122"/>
              </a:rPr>
              <a:t>返回值</a:t>
            </a:r>
            <a:r>
              <a:rPr lang="en-US" altLang="zh-CN" b="1" dirty="0">
                <a:ea typeface="黑体" pitchFamily="2" charset="-122"/>
              </a:rPr>
              <a:t>]</a:t>
            </a:r>
            <a:endParaRPr lang="zh-CN" altLang="en-US" b="1" dirty="0">
              <a:ea typeface="黑体" pitchFamily="2" charset="-122"/>
            </a:endParaRPr>
          </a:p>
          <a:p>
            <a:pPr defTabSz="723900">
              <a:lnSpc>
                <a:spcPct val="150000"/>
              </a:lnSpc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黑体" pitchFamily="2" charset="-122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ea typeface="黑体" pitchFamily="2" charset="-122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10A6EA30-403B-4687-8CA7-4EFC78990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4" y="1879600"/>
            <a:ext cx="1285875" cy="407988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无参函数</a:t>
            </a:r>
            <a:endParaRPr lang="zh-CN" altLang="en-US" b="1" kern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7C855004-E920-4143-A702-D771C42E2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4" y="2451100"/>
            <a:ext cx="1285875" cy="4064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有参函数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88A78B9F-37E5-4C63-9FD3-DD9D676191BE}"/>
              </a:ext>
            </a:extLst>
          </p:cNvPr>
          <p:cNvSpPr txBox="1">
            <a:spLocks/>
          </p:cNvSpPr>
          <p:nvPr/>
        </p:nvSpPr>
        <p:spPr bwMode="auto">
          <a:xfrm>
            <a:off x="4381500" y="2071689"/>
            <a:ext cx="23876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defRPr/>
            </a:pPr>
            <a:r>
              <a:rPr lang="zh-CN" altLang="en-US" b="1" dirty="0">
                <a:ea typeface="黑体" pitchFamily="2" charset="-122"/>
              </a:rPr>
              <a:t>参数</a:t>
            </a:r>
            <a:r>
              <a:rPr lang="en-US" altLang="zh-CN" b="1" dirty="0">
                <a:ea typeface="黑体" pitchFamily="2" charset="-122"/>
              </a:rPr>
              <a:t>1,</a:t>
            </a:r>
            <a:r>
              <a:rPr lang="zh-CN" altLang="en-US" b="1" dirty="0">
                <a:ea typeface="黑体" pitchFamily="2" charset="-122"/>
              </a:rPr>
              <a:t>参数</a:t>
            </a:r>
            <a:r>
              <a:rPr lang="en-US" altLang="zh-CN" b="1" dirty="0">
                <a:ea typeface="黑体" pitchFamily="2" charset="-122"/>
              </a:rPr>
              <a:t>2,</a:t>
            </a:r>
            <a:r>
              <a:rPr lang="zh-CN" altLang="en-US" b="1" dirty="0">
                <a:ea typeface="黑体" pitchFamily="2" charset="-122"/>
              </a:rPr>
              <a:t>参数</a:t>
            </a:r>
            <a:r>
              <a:rPr lang="en-US" altLang="zh-CN" b="1" dirty="0">
                <a:ea typeface="黑体" pitchFamily="2" charset="-122"/>
              </a:rPr>
              <a:t>3,…</a:t>
            </a:r>
            <a:endParaRPr lang="en-US" altLang="zh-CN" b="1" kern="0" dirty="0">
              <a:latin typeface="+mn-lt"/>
              <a:ea typeface="+mn-ea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489DCA4E-925E-4270-9052-261ABCF95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6" y="3857625"/>
            <a:ext cx="1285875" cy="4064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spAutoFit/>
          </a:bodyPr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可有可无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07D1CCC-FE04-49C1-BB01-8805AA3E5E6C}"/>
              </a:ext>
            </a:extLst>
          </p:cNvPr>
          <p:cNvCxnSpPr/>
          <p:nvPr/>
        </p:nvCxnSpPr>
        <p:spPr bwMode="auto">
          <a:xfrm rot="16200000" flipH="1">
            <a:off x="4310050" y="3429000"/>
            <a:ext cx="500066" cy="357190"/>
          </a:xfrm>
          <a:prstGeom prst="straightConnector1">
            <a:avLst/>
          </a:prstGeom>
          <a:ln cmpd="sng">
            <a:solidFill>
              <a:srgbClr val="00C77A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AutoShape 5">
            <a:extLst>
              <a:ext uri="{FF2B5EF4-FFF2-40B4-BE49-F238E27FC236}">
                <a16:creationId xmlns:a16="http://schemas.microsoft.com/office/drawing/2014/main" id="{B2A5C56B-6187-438F-AA4A-31519E888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582" y="5417555"/>
            <a:ext cx="4786313" cy="505996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+mn-lt"/>
                <a:ea typeface="+mn-ea"/>
              </a:rPr>
              <a:t>事件名＝</a:t>
            </a:r>
            <a:r>
              <a:rPr lang="zh-CN" altLang="zh-CN" b="1" dirty="0">
                <a:latin typeface="+mn-lt"/>
                <a:ea typeface="+mn-ea"/>
              </a:rPr>
              <a:t> "</a:t>
            </a:r>
            <a:r>
              <a:rPr lang="zh-CN" altLang="en-US" b="1" dirty="0">
                <a:latin typeface="+mn-lt"/>
                <a:ea typeface="+mn-ea"/>
              </a:rPr>
              <a:t>函数名</a:t>
            </a:r>
            <a:r>
              <a:rPr lang="en-US" altLang="zh-CN" b="1" dirty="0">
                <a:latin typeface="+mn-lt"/>
                <a:ea typeface="+mn-ea"/>
              </a:rPr>
              <a:t>( )</a:t>
            </a:r>
            <a:r>
              <a:rPr lang="zh-CN" altLang="zh-CN" b="1" dirty="0">
                <a:latin typeface="+mn-lt"/>
                <a:ea typeface="+mn-ea"/>
              </a:rPr>
              <a:t>"</a:t>
            </a:r>
            <a:r>
              <a:rPr lang="en-US" altLang="zh-CN" b="1" dirty="0">
                <a:latin typeface="+mn-lt"/>
                <a:ea typeface="+mn-ea"/>
              </a:rPr>
              <a:t> ;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6122AD3-FC46-43A8-8045-A67E1072789E}"/>
              </a:ext>
            </a:extLst>
          </p:cNvPr>
          <p:cNvGrpSpPr/>
          <p:nvPr/>
        </p:nvGrpSpPr>
        <p:grpSpPr>
          <a:xfrm>
            <a:off x="942982" y="2158203"/>
            <a:ext cx="1039495" cy="400050"/>
            <a:chOff x="1174750" y="2340610"/>
            <a:chExt cx="1039495" cy="400050"/>
          </a:xfrm>
        </p:grpSpPr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5A6F02AC-ED65-42AF-B0B6-4F1969A489BF}"/>
                </a:ext>
              </a:extLst>
            </p:cNvPr>
            <p:cNvSpPr txBox="1"/>
            <p:nvPr/>
          </p:nvSpPr>
          <p:spPr>
            <a:xfrm>
              <a:off x="1514475" y="2340610"/>
              <a:ext cx="699770" cy="40005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语法</a:t>
              </a:r>
            </a:p>
          </p:txBody>
        </p:sp>
        <p:pic>
          <p:nvPicPr>
            <p:cNvPr id="24" name="图片 23" descr="语法">
              <a:extLst>
                <a:ext uri="{FF2B5EF4-FFF2-40B4-BE49-F238E27FC236}">
                  <a16:creationId xmlns:a16="http://schemas.microsoft.com/office/drawing/2014/main" id="{3808F86A-0D56-400D-B5DD-A23EF290A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750" y="2340610"/>
              <a:ext cx="389890" cy="389890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02E5579-08F0-4B9C-B171-E5C4BFEF4343}"/>
              </a:ext>
            </a:extLst>
          </p:cNvPr>
          <p:cNvGrpSpPr/>
          <p:nvPr/>
        </p:nvGrpSpPr>
        <p:grpSpPr>
          <a:xfrm>
            <a:off x="945200" y="5417555"/>
            <a:ext cx="1039495" cy="400050"/>
            <a:chOff x="1174750" y="2340610"/>
            <a:chExt cx="1039495" cy="400050"/>
          </a:xfrm>
        </p:grpSpPr>
        <p:sp>
          <p:nvSpPr>
            <p:cNvPr id="26" name="TextBox 14">
              <a:extLst>
                <a:ext uri="{FF2B5EF4-FFF2-40B4-BE49-F238E27FC236}">
                  <a16:creationId xmlns:a16="http://schemas.microsoft.com/office/drawing/2014/main" id="{82BBD793-62E4-40D3-99CF-625DC8087C25}"/>
                </a:ext>
              </a:extLst>
            </p:cNvPr>
            <p:cNvSpPr txBox="1"/>
            <p:nvPr/>
          </p:nvSpPr>
          <p:spPr>
            <a:xfrm>
              <a:off x="1514475" y="2340610"/>
              <a:ext cx="699770" cy="40005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语法</a:t>
              </a:r>
            </a:p>
          </p:txBody>
        </p:sp>
        <p:pic>
          <p:nvPicPr>
            <p:cNvPr id="27" name="图片 26" descr="语法">
              <a:extLst>
                <a:ext uri="{FF2B5EF4-FFF2-40B4-BE49-F238E27FC236}">
                  <a16:creationId xmlns:a16="http://schemas.microsoft.com/office/drawing/2014/main" id="{55398E22-15CA-4E47-A871-C035B8E43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750" y="2340610"/>
              <a:ext cx="389890" cy="389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38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44D08-1DA2-4145-9DDA-E271AD14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调用无参函数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1FBA5D6-65F1-4737-82B6-89B163983D19}"/>
              </a:ext>
            </a:extLst>
          </p:cNvPr>
          <p:cNvSpPr txBox="1">
            <a:spLocks/>
          </p:cNvSpPr>
          <p:nvPr/>
        </p:nvSpPr>
        <p:spPr>
          <a:xfrm>
            <a:off x="790575" y="1227027"/>
            <a:ext cx="9698039" cy="754647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调用无参函数，输出</a:t>
            </a:r>
            <a:r>
              <a:rPr lang="en-US" altLang="zh-CN" sz="2800" dirty="0"/>
              <a:t>5次</a:t>
            </a:r>
            <a:r>
              <a:rPr lang="zh-CN" altLang="en-US" sz="2800" dirty="0"/>
              <a:t>“欢迎学习</a:t>
            </a:r>
            <a:r>
              <a:rPr lang="en-US" altLang="zh-CN" sz="2800" dirty="0"/>
              <a:t>JavaScript</a:t>
            </a:r>
            <a:r>
              <a:rPr lang="zh-CN" altLang="en-US" sz="2800" dirty="0"/>
              <a:t>”</a:t>
            </a:r>
            <a:endParaRPr lang="en-US" altLang="zh-CN" sz="2800" dirty="0"/>
          </a:p>
        </p:txBody>
      </p:sp>
      <p:sp>
        <p:nvSpPr>
          <p:cNvPr id="5" name="AutoShape 25">
            <a:extLst>
              <a:ext uri="{FF2B5EF4-FFF2-40B4-BE49-F238E27FC236}">
                <a16:creationId xmlns:a16="http://schemas.microsoft.com/office/drawing/2014/main" id="{C41F5A78-CE37-409C-9A07-48A0506693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10498" y="4387494"/>
            <a:ext cx="7095328" cy="617364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单击此按钮时，</a:t>
            </a:r>
            <a:r>
              <a:rPr lang="zh-CN" altLang="en-US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调用函数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study( )，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执行函数体中的代码</a:t>
            </a:r>
          </a:p>
        </p:txBody>
      </p:sp>
      <p:sp>
        <p:nvSpPr>
          <p:cNvPr id="7" name="AutoShape 22">
            <a:extLst>
              <a:ext uri="{FF2B5EF4-FFF2-40B4-BE49-F238E27FC236}">
                <a16:creationId xmlns:a16="http://schemas.microsoft.com/office/drawing/2014/main" id="{06316469-6880-4189-B833-A2808CA8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213" y="2127864"/>
            <a:ext cx="7059613" cy="2169825"/>
          </a:xfrm>
          <a:prstGeom prst="roundRect">
            <a:avLst>
              <a:gd name="adj" fmla="val 68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function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study</a:t>
            </a:r>
            <a:r>
              <a:rPr lang="en-US" altLang="zh-CN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( )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{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        </a:t>
            </a:r>
            <a:r>
              <a:rPr lang="en-US" altLang="zh-CN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for(var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 i=0;i&lt;5;i++){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           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document</a:t>
            </a:r>
            <a:r>
              <a:rPr lang="en-US" altLang="zh-CN" b="1" err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.</a:t>
            </a:r>
            <a:r>
              <a:rPr lang="en-US" altLang="zh-CN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write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("&lt;h4&gt;</a:t>
            </a:r>
            <a:r>
              <a:rPr lang="zh-CN" altLang="en-US" b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欢迎学习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JavaScript&lt;/h4&gt;");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        }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    }</a:t>
            </a:r>
          </a:p>
        </p:txBody>
      </p:sp>
      <p:sp>
        <p:nvSpPr>
          <p:cNvPr id="8" name="AutoShape 23">
            <a:extLst>
              <a:ext uri="{FF2B5EF4-FFF2-40B4-BE49-F238E27FC236}">
                <a16:creationId xmlns:a16="http://schemas.microsoft.com/office/drawing/2014/main" id="{41F480B7-8966-4898-891C-6D24D7426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213" y="5170013"/>
            <a:ext cx="7059613" cy="772584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&lt;input name="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btn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" type="button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</a:rPr>
              <a:t>"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  <a:ea typeface="+mn-ea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   value="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显示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5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次欢迎学习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JavaScript"  </a:t>
            </a:r>
            <a:r>
              <a:rPr lang="en-US" altLang="zh-CN" b="1" dirty="0" err="1">
                <a:solidFill>
                  <a:srgbClr val="FF0000"/>
                </a:solidFill>
                <a:latin typeface="+mn-lt"/>
                <a:ea typeface="+mn-ea"/>
              </a:rPr>
              <a:t>onclick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="study( )"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+mn-ea"/>
              </a:rPr>
              <a:t>/&gt;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447BAFD-5831-4689-84C1-743035E32CD7}"/>
              </a:ext>
            </a:extLst>
          </p:cNvPr>
          <p:cNvCxnSpPr>
            <a:cxnSpLocks/>
          </p:cNvCxnSpPr>
          <p:nvPr/>
        </p:nvCxnSpPr>
        <p:spPr bwMode="auto">
          <a:xfrm>
            <a:off x="4373880" y="2441575"/>
            <a:ext cx="3738344" cy="3291682"/>
          </a:xfrm>
          <a:prstGeom prst="straightConnector1">
            <a:avLst/>
          </a:prstGeom>
          <a:ln cmpd="sng">
            <a:solidFill>
              <a:srgbClr val="00C77A"/>
            </a:solidFill>
            <a:headEnd type="non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A227DAD-7E24-4D07-8FB4-43037C70413E}"/>
              </a:ext>
            </a:extLst>
          </p:cNvPr>
          <p:cNvGrpSpPr/>
          <p:nvPr/>
        </p:nvGrpSpPr>
        <p:grpSpPr>
          <a:xfrm>
            <a:off x="3624421" y="6107039"/>
            <a:ext cx="3827905" cy="582930"/>
            <a:chOff x="1488" y="2503"/>
            <a:chExt cx="6637" cy="918"/>
          </a:xfrm>
        </p:grpSpPr>
        <p:sp>
          <p:nvSpPr>
            <p:cNvPr id="20" name="圆角矩形 25">
              <a:extLst>
                <a:ext uri="{FF2B5EF4-FFF2-40B4-BE49-F238E27FC236}">
                  <a16:creationId xmlns:a16="http://schemas.microsoft.com/office/drawing/2014/main" id="{ACAFEFBD-38D3-44B6-B3EC-541E101355E0}"/>
                </a:ext>
              </a:extLst>
            </p:cNvPr>
            <p:cNvSpPr/>
            <p:nvPr/>
          </p:nvSpPr>
          <p:spPr>
            <a:xfrm>
              <a:off x="1488" y="2503"/>
              <a:ext cx="6637" cy="918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139D442-EB3D-412F-BC3A-9538B817FDBE}"/>
                </a:ext>
              </a:extLst>
            </p:cNvPr>
            <p:cNvGrpSpPr/>
            <p:nvPr/>
          </p:nvGrpSpPr>
          <p:grpSpPr>
            <a:xfrm>
              <a:off x="1689" y="2598"/>
              <a:ext cx="6436" cy="737"/>
              <a:chOff x="1689" y="2598"/>
              <a:chExt cx="6436" cy="737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22821AF-A12A-4061-B16A-24D330499781}"/>
                  </a:ext>
                </a:extLst>
              </p:cNvPr>
              <p:cNvSpPr txBox="1"/>
              <p:nvPr/>
            </p:nvSpPr>
            <p:spPr>
              <a:xfrm>
                <a:off x="2438" y="2633"/>
                <a:ext cx="5687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演示示例</a:t>
                </a:r>
                <a:r>
                  <a:rPr lang="en-US" altLang="zh-CN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7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：无参函数</a:t>
                </a:r>
                <a:endParaRPr lang="en-US" altLang="zh-CN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3" name="组合 67">
                <a:extLst>
                  <a:ext uri="{FF2B5EF4-FFF2-40B4-BE49-F238E27FC236}">
                    <a16:creationId xmlns:a16="http://schemas.microsoft.com/office/drawing/2014/main" id="{0AAEA674-54BA-4892-BC07-606A9E2EBA85}"/>
                  </a:ext>
                </a:extLst>
              </p:cNvPr>
              <p:cNvGrpSpPr/>
              <p:nvPr/>
            </p:nvGrpSpPr>
            <p:grpSpPr bwMode="auto">
              <a:xfrm>
                <a:off x="1689" y="2598"/>
                <a:ext cx="1134" cy="737"/>
                <a:chOff x="6071563" y="1124092"/>
                <a:chExt cx="720085" cy="467999"/>
              </a:xfrm>
            </p:grpSpPr>
            <p:pic>
              <p:nvPicPr>
                <p:cNvPr id="24" name="Picture 13" descr="E:\设计\06-2018\前端5.0PPT\辅导.png辅导">
                  <a:extLst>
                    <a:ext uri="{FF2B5EF4-FFF2-40B4-BE49-F238E27FC236}">
                      <a16:creationId xmlns:a16="http://schemas.microsoft.com/office/drawing/2014/main" id="{D5FD6353-DA4A-463A-B31D-E465BA2A57F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6071563" y="1124092"/>
                  <a:ext cx="468036" cy="467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" name="TextBox 53">
                  <a:extLst>
                    <a:ext uri="{FF2B5EF4-FFF2-40B4-BE49-F238E27FC236}">
                      <a16:creationId xmlns:a16="http://schemas.microsoft.com/office/drawing/2014/main" id="{0E9675E7-2CBE-43E6-B108-0CB842FF98A2}"/>
                    </a:ext>
                  </a:extLst>
                </p:cNvPr>
                <p:cNvSpPr txBox="1"/>
                <p:nvPr/>
              </p:nvSpPr>
              <p:spPr>
                <a:xfrm>
                  <a:off x="6481809" y="1172194"/>
                  <a:ext cx="309839" cy="398783"/>
                </a:xfrm>
                <a:prstGeom prst="rect">
                  <a:avLst/>
                </a:prstGeom>
                <a:noFill/>
                <a:effectLst>
                  <a:outerShdw blurRad="25400" dist="127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>
                    <a:defRPr/>
                  </a:pPr>
                  <a:endPara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6" name="组合 70">
            <a:extLst>
              <a:ext uri="{FF2B5EF4-FFF2-40B4-BE49-F238E27FC236}">
                <a16:creationId xmlns:a16="http://schemas.microsoft.com/office/drawing/2014/main" id="{7D0DAE9C-59EE-4757-8047-0E3CD1D5C1CB}"/>
              </a:ext>
            </a:extLst>
          </p:cNvPr>
          <p:cNvGrpSpPr/>
          <p:nvPr/>
        </p:nvGrpSpPr>
        <p:grpSpPr bwMode="auto">
          <a:xfrm>
            <a:off x="945931" y="2127864"/>
            <a:ext cx="1078259" cy="414337"/>
            <a:chOff x="921965" y="2536466"/>
            <a:chExt cx="1078267" cy="414475"/>
          </a:xfrm>
        </p:grpSpPr>
        <p:pic>
          <p:nvPicPr>
            <p:cNvPr id="27" name="Picture 8" descr="E:\设计\06-2018\前端5.0PPT\实例.png实例">
              <a:extLst>
                <a:ext uri="{FF2B5EF4-FFF2-40B4-BE49-F238E27FC236}">
                  <a16:creationId xmlns:a16="http://schemas.microsoft.com/office/drawing/2014/main" id="{98A32B4D-24E1-4C6B-B96F-0150462DFF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21965" y="2536466"/>
              <a:ext cx="414023" cy="4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3FE07BC-C25E-4708-B73E-5555BA194709}"/>
                </a:ext>
              </a:extLst>
            </p:cNvPr>
            <p:cNvSpPr txBox="1"/>
            <p:nvPr/>
          </p:nvSpPr>
          <p:spPr>
            <a:xfrm>
              <a:off x="1300140" y="2536783"/>
              <a:ext cx="700092" cy="398596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示例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540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9CDF1-BF24-461B-B810-B71549D4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调用有参函数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1D8425D-B469-4344-ADE8-76354A8E9370}"/>
              </a:ext>
            </a:extLst>
          </p:cNvPr>
          <p:cNvSpPr txBox="1">
            <a:spLocks/>
          </p:cNvSpPr>
          <p:nvPr/>
        </p:nvSpPr>
        <p:spPr>
          <a:xfrm>
            <a:off x="771525" y="1275062"/>
            <a:ext cx="10506075" cy="3174701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根据输入的次数，显示“欢迎学习</a:t>
            </a:r>
            <a:r>
              <a:rPr lang="en-US" altLang="zh-CN" sz="2800" dirty="0"/>
              <a:t>JavaScript</a:t>
            </a:r>
            <a:r>
              <a:rPr lang="zh-CN" altLang="en-US" sz="2800" dirty="0"/>
              <a:t>“</a:t>
            </a:r>
            <a:endParaRPr lang="en-US" altLang="zh-CN" sz="2800" dirty="0"/>
          </a:p>
        </p:txBody>
      </p:sp>
      <p:sp>
        <p:nvSpPr>
          <p:cNvPr id="6" name="AutoShape 25">
            <a:extLst>
              <a:ext uri="{FF2B5EF4-FFF2-40B4-BE49-F238E27FC236}">
                <a16:creationId xmlns:a16="http://schemas.microsoft.com/office/drawing/2014/main" id="{98C87ADC-40F6-4930-8D5F-6FD7BD8BDC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66938" y="4400147"/>
            <a:ext cx="8775382" cy="571500"/>
          </a:xfrm>
          <a:prstGeom prst="roundRect">
            <a:avLst>
              <a:gd name="adj" fmla="val 2667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单击此按钮时，调用函数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study (count )，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执行函数体中的代码</a:t>
            </a:r>
          </a:p>
        </p:txBody>
      </p:sp>
      <p:sp>
        <p:nvSpPr>
          <p:cNvPr id="7" name="AutoShape 22">
            <a:extLst>
              <a:ext uri="{FF2B5EF4-FFF2-40B4-BE49-F238E27FC236}">
                <a16:creationId xmlns:a16="http://schemas.microsoft.com/office/drawing/2014/main" id="{B2977BC6-3B48-4C2D-B3C7-1CFBA39D4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030731"/>
            <a:ext cx="8775382" cy="2169825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function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宋体" charset="-122"/>
              </a:rPr>
              <a:t> study(count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){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 for(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var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i=0;i&lt;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count;i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++){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    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document.write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("&lt;h4&gt;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欢迎学习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JavaScript&lt;/h4&gt;");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    }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  }</a:t>
            </a:r>
          </a:p>
        </p:txBody>
      </p:sp>
      <p:sp>
        <p:nvSpPr>
          <p:cNvPr id="8" name="AutoShape 23">
            <a:extLst>
              <a:ext uri="{FF2B5EF4-FFF2-40B4-BE49-F238E27FC236}">
                <a16:creationId xmlns:a16="http://schemas.microsoft.com/office/drawing/2014/main" id="{F4CE0716-3BE7-4004-8CAF-0BE21FA4F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5174678"/>
            <a:ext cx="8775382" cy="772584"/>
          </a:xfrm>
          <a:prstGeom prst="roundRect">
            <a:avLst>
              <a:gd name="adj" fmla="val 0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&lt;input name="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btn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" type="button" value="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请输入显示欢迎学习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JavaScript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的次数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"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  <a:ea typeface="宋体" charset="-122"/>
            </a:endParaRP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 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onclick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="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宋体" charset="-122"/>
              </a:rPr>
              <a:t>study(prompt('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宋体" charset="-122"/>
              </a:rPr>
              <a:t>请输入显示欢迎学习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宋体" charset="-122"/>
              </a:rPr>
              <a:t>JavaScript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宋体" charset="-122"/>
              </a:rPr>
              <a:t>的次数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宋体" charset="-122"/>
              </a:rPr>
              <a:t>:',''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  <a:ea typeface="宋体" charset="-122"/>
              </a:rPr>
              <a:t>))" /&gt;</a:t>
            </a:r>
            <a:endParaRPr lang="en-US" altLang="zh-CN" b="1" dirty="0">
              <a:ea typeface="黑体" pitchFamily="49" charset="-122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5D6CC5C-B870-49D0-8869-2417E47676FA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2025293" y="2930973"/>
            <a:ext cx="3714776" cy="2262558"/>
          </a:xfrm>
          <a:prstGeom prst="arc">
            <a:avLst>
              <a:gd name="adj1" fmla="val 11854561"/>
              <a:gd name="adj2" fmla="val 20637620"/>
            </a:avLst>
          </a:prstGeom>
          <a:ln cmpd="sng">
            <a:solidFill>
              <a:srgbClr val="37B785"/>
            </a:solidFill>
            <a:headEnd type="non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 baseline="-25000" dirty="0"/>
          </a:p>
        </p:txBody>
      </p:sp>
      <p:grpSp>
        <p:nvGrpSpPr>
          <p:cNvPr id="18" name="组合 70">
            <a:extLst>
              <a:ext uri="{FF2B5EF4-FFF2-40B4-BE49-F238E27FC236}">
                <a16:creationId xmlns:a16="http://schemas.microsoft.com/office/drawing/2014/main" id="{0EBC0218-6416-451A-9966-A0608C67D899}"/>
              </a:ext>
            </a:extLst>
          </p:cNvPr>
          <p:cNvGrpSpPr/>
          <p:nvPr/>
        </p:nvGrpSpPr>
        <p:grpSpPr bwMode="auto">
          <a:xfrm>
            <a:off x="930102" y="2000251"/>
            <a:ext cx="1078259" cy="414337"/>
            <a:chOff x="921965" y="2536466"/>
            <a:chExt cx="1078267" cy="414475"/>
          </a:xfrm>
        </p:grpSpPr>
        <p:pic>
          <p:nvPicPr>
            <p:cNvPr id="19" name="Picture 8" descr="E:\设计\06-2018\前端5.0PPT\实例.png实例">
              <a:extLst>
                <a:ext uri="{FF2B5EF4-FFF2-40B4-BE49-F238E27FC236}">
                  <a16:creationId xmlns:a16="http://schemas.microsoft.com/office/drawing/2014/main" id="{66608A83-9186-4AF6-A53F-B0E8C3372F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21965" y="2536466"/>
              <a:ext cx="414023" cy="4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1940CCBC-2BB9-409B-8454-1082F6D77D49}"/>
                </a:ext>
              </a:extLst>
            </p:cNvPr>
            <p:cNvSpPr txBox="1"/>
            <p:nvPr/>
          </p:nvSpPr>
          <p:spPr>
            <a:xfrm>
              <a:off x="1300140" y="2536783"/>
              <a:ext cx="700092" cy="398596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示例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FA977BE-7588-440F-874E-2D2807E92720}"/>
              </a:ext>
            </a:extLst>
          </p:cNvPr>
          <p:cNvGrpSpPr/>
          <p:nvPr/>
        </p:nvGrpSpPr>
        <p:grpSpPr>
          <a:xfrm>
            <a:off x="3648780" y="6122671"/>
            <a:ext cx="4030345" cy="582930"/>
            <a:chOff x="1488" y="2503"/>
            <a:chExt cx="6988" cy="918"/>
          </a:xfrm>
        </p:grpSpPr>
        <p:sp>
          <p:nvSpPr>
            <p:cNvPr id="22" name="圆角矩形 25">
              <a:extLst>
                <a:ext uri="{FF2B5EF4-FFF2-40B4-BE49-F238E27FC236}">
                  <a16:creationId xmlns:a16="http://schemas.microsoft.com/office/drawing/2014/main" id="{D3691597-F433-47A7-8C0C-A7D697635DE3}"/>
                </a:ext>
              </a:extLst>
            </p:cNvPr>
            <p:cNvSpPr/>
            <p:nvPr/>
          </p:nvSpPr>
          <p:spPr>
            <a:xfrm>
              <a:off x="1488" y="2503"/>
              <a:ext cx="6436" cy="918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72D3AF1-977D-4EFA-B72E-90B843AEB454}"/>
                </a:ext>
              </a:extLst>
            </p:cNvPr>
            <p:cNvGrpSpPr/>
            <p:nvPr/>
          </p:nvGrpSpPr>
          <p:grpSpPr>
            <a:xfrm>
              <a:off x="1688" y="2598"/>
              <a:ext cx="6788" cy="737"/>
              <a:chOff x="1688" y="2598"/>
              <a:chExt cx="6788" cy="737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589B501-A0FB-4684-85E8-688FDD736E9A}"/>
                  </a:ext>
                </a:extLst>
              </p:cNvPr>
              <p:cNvSpPr txBox="1"/>
              <p:nvPr/>
            </p:nvSpPr>
            <p:spPr>
              <a:xfrm>
                <a:off x="2438" y="2633"/>
                <a:ext cx="6038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演示示例</a:t>
                </a:r>
                <a:r>
                  <a:rPr lang="en-US" altLang="zh-CN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8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：有参函数</a:t>
                </a:r>
                <a:endParaRPr lang="en-US" altLang="zh-CN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5" name="组合 67">
                <a:extLst>
                  <a:ext uri="{FF2B5EF4-FFF2-40B4-BE49-F238E27FC236}">
                    <a16:creationId xmlns:a16="http://schemas.microsoft.com/office/drawing/2014/main" id="{5C8A3C5B-F505-4CBB-B4F7-5C8C92A7823C}"/>
                  </a:ext>
                </a:extLst>
              </p:cNvPr>
              <p:cNvGrpSpPr/>
              <p:nvPr/>
            </p:nvGrpSpPr>
            <p:grpSpPr bwMode="auto">
              <a:xfrm>
                <a:off x="1688" y="2598"/>
                <a:ext cx="1134" cy="737"/>
                <a:chOff x="6071563" y="1124092"/>
                <a:chExt cx="720153" cy="467999"/>
              </a:xfrm>
            </p:grpSpPr>
            <p:pic>
              <p:nvPicPr>
                <p:cNvPr id="26" name="Picture 13" descr="E:\设计\06-2018\前端5.0PPT\辅导.png辅导">
                  <a:extLst>
                    <a:ext uri="{FF2B5EF4-FFF2-40B4-BE49-F238E27FC236}">
                      <a16:creationId xmlns:a16="http://schemas.microsoft.com/office/drawing/2014/main" id="{02E3C892-496E-4DDC-A8C6-D39AEBD18BD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6071563" y="1124092"/>
                  <a:ext cx="468036" cy="467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" name="TextBox 53">
                  <a:extLst>
                    <a:ext uri="{FF2B5EF4-FFF2-40B4-BE49-F238E27FC236}">
                      <a16:creationId xmlns:a16="http://schemas.microsoft.com/office/drawing/2014/main" id="{06C55D9D-6F52-4F26-951E-2F565F795504}"/>
                    </a:ext>
                  </a:extLst>
                </p:cNvPr>
                <p:cNvSpPr txBox="1"/>
                <p:nvPr/>
              </p:nvSpPr>
              <p:spPr>
                <a:xfrm>
                  <a:off x="6481809" y="1172194"/>
                  <a:ext cx="309907" cy="398783"/>
                </a:xfrm>
                <a:prstGeom prst="rect">
                  <a:avLst/>
                </a:prstGeom>
                <a:noFill/>
                <a:effectLst>
                  <a:outerShdw blurRad="25400" dist="127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>
                    <a:defRPr/>
                  </a:pPr>
                  <a:endPara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371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018EE-7D09-46B2-8DCD-1A312385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学员操作</a:t>
            </a:r>
            <a:r>
              <a:rPr lang="en-US" altLang="zh-CN" dirty="0"/>
              <a:t>—</a:t>
            </a:r>
            <a:r>
              <a:rPr lang="zh-CN" altLang="en-US" dirty="0"/>
              <a:t>编写一个四则运算函数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6670C-1A1D-444F-8048-E57548E09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050" y="1300703"/>
            <a:ext cx="10687685" cy="481838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需求说明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编写函数，实现使用</a:t>
            </a:r>
            <a:r>
              <a:rPr lang="en-US" altLang="zh-CN" dirty="0" err="1"/>
              <a:t>prompt输入两个数和运算符号</a:t>
            </a:r>
            <a:r>
              <a:rPr lang="en-US" altLang="zh-CN" dirty="0"/>
              <a:t>，</a:t>
            </a:r>
            <a:r>
              <a:rPr lang="zh-CN" altLang="en-US" dirty="0"/>
              <a:t>并</a:t>
            </a:r>
            <a:r>
              <a:rPr lang="en-US" altLang="zh-CN" dirty="0" err="1"/>
              <a:t>计算两个数的操作结果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9" name="组合 19">
            <a:extLst>
              <a:ext uri="{FF2B5EF4-FFF2-40B4-BE49-F238E27FC236}">
                <a16:creationId xmlns:a16="http://schemas.microsoft.com/office/drawing/2014/main" id="{45A4E1BE-CC65-4A77-A163-2C5C8E249573}"/>
              </a:ext>
            </a:extLst>
          </p:cNvPr>
          <p:cNvGrpSpPr>
            <a:grpSpLocks/>
          </p:cNvGrpSpPr>
          <p:nvPr/>
        </p:nvGrpSpPr>
        <p:grpSpPr bwMode="auto">
          <a:xfrm>
            <a:off x="4062919" y="6264168"/>
            <a:ext cx="2786062" cy="428625"/>
            <a:chOff x="3714744" y="5143512"/>
            <a:chExt cx="2786082" cy="428628"/>
          </a:xfrm>
          <a:solidFill>
            <a:srgbClr val="00C77A"/>
          </a:solidFill>
        </p:grpSpPr>
        <p:sp>
          <p:nvSpPr>
            <p:cNvPr id="10" name="圆角矩形 14">
              <a:extLst>
                <a:ext uri="{FF2B5EF4-FFF2-40B4-BE49-F238E27FC236}">
                  <a16:creationId xmlns:a16="http://schemas.microsoft.com/office/drawing/2014/main" id="{A176DD6D-089E-4F3C-9193-6641756BEF44}"/>
                </a:ext>
              </a:extLst>
            </p:cNvPr>
            <p:cNvSpPr/>
            <p:nvPr/>
          </p:nvSpPr>
          <p:spPr bwMode="auto">
            <a:xfrm>
              <a:off x="3714744" y="5143512"/>
              <a:ext cx="2786082" cy="428628"/>
            </a:xfrm>
            <a:prstGeom prst="roundRect">
              <a:avLst/>
            </a:prstGeom>
            <a:grpFill/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148199A0-427F-40BC-BBF6-04FC1A4AD4F0}"/>
                </a:ext>
              </a:extLst>
            </p:cNvPr>
            <p:cNvSpPr txBox="1"/>
            <p:nvPr/>
          </p:nvSpPr>
          <p:spPr bwMode="auto">
            <a:xfrm>
              <a:off x="3962396" y="5187962"/>
              <a:ext cx="2220928" cy="338140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完成时间：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分钟</a:t>
              </a:r>
            </a:p>
          </p:txBody>
        </p:sp>
      </p:grpSp>
      <p:pic>
        <p:nvPicPr>
          <p:cNvPr id="12" name="Picture 2" descr="F:\2016年工作\ACCP8.0产品开发\jQuery\案例源码\chapter01\Chapter01截图\图1.33.BMP">
            <a:extLst>
              <a:ext uri="{FF2B5EF4-FFF2-40B4-BE49-F238E27FC236}">
                <a16:creationId xmlns:a16="http://schemas.microsoft.com/office/drawing/2014/main" id="{87895917-AC63-4CF0-B827-93720355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2" y="2841032"/>
            <a:ext cx="3559649" cy="33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F:\2016年工作\ACCP8.0产品开发\jQuery\案例源码\chapter01\Chapter01截图\图1.34.BMP">
            <a:extLst>
              <a:ext uri="{FF2B5EF4-FFF2-40B4-BE49-F238E27FC236}">
                <a16:creationId xmlns:a16="http://schemas.microsoft.com/office/drawing/2014/main" id="{9DBBF055-1EF0-4200-AC6A-DDE2CF0C8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289" y="3643960"/>
            <a:ext cx="368566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组合 66">
            <a:extLst>
              <a:ext uri="{FF2B5EF4-FFF2-40B4-BE49-F238E27FC236}">
                <a16:creationId xmlns:a16="http://schemas.microsoft.com/office/drawing/2014/main" id="{139CF822-99BE-4CE7-8D51-10A2745669E7}"/>
              </a:ext>
            </a:extLst>
          </p:cNvPr>
          <p:cNvGrpSpPr/>
          <p:nvPr/>
        </p:nvGrpSpPr>
        <p:grpSpPr bwMode="auto">
          <a:xfrm>
            <a:off x="152400" y="1527810"/>
            <a:ext cx="1077050" cy="405765"/>
            <a:chOff x="3637818" y="1193279"/>
            <a:chExt cx="1077058" cy="405715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75BD5FC1-2017-4636-AC74-A8F8F1EF1BA0}"/>
                </a:ext>
              </a:extLst>
            </p:cNvPr>
            <p:cNvSpPr txBox="1"/>
            <p:nvPr/>
          </p:nvSpPr>
          <p:spPr>
            <a:xfrm>
              <a:off x="4014784" y="1196137"/>
              <a:ext cx="700092" cy="400001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练习</a:t>
              </a:r>
            </a:p>
          </p:txBody>
        </p:sp>
        <p:pic>
          <p:nvPicPr>
            <p:cNvPr id="16" name="Picture 2" descr="E:\设计\06-2018\前端5.0PPT\练习.png练习">
              <a:extLst>
                <a:ext uri="{FF2B5EF4-FFF2-40B4-BE49-F238E27FC236}">
                  <a16:creationId xmlns:a16="http://schemas.microsoft.com/office/drawing/2014/main" id="{5B6C3B6C-DB40-4908-9840-91B7B3198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37818" y="1193279"/>
              <a:ext cx="406403" cy="405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6275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常见问题及解决办法</a:t>
            </a:r>
          </a:p>
          <a:p>
            <a:r>
              <a:rPr lang="zh-CN" altLang="en-US" dirty="0"/>
              <a:t>代码规范问题</a:t>
            </a:r>
          </a:p>
          <a:p>
            <a:r>
              <a:rPr lang="zh-CN" altLang="en-US" dirty="0"/>
              <a:t>调试技巧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t>共性问题集中讲解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300730" y="4230370"/>
            <a:ext cx="5363845" cy="1323340"/>
            <a:chOff x="4789" y="4099"/>
            <a:chExt cx="8447" cy="2084"/>
          </a:xfrm>
        </p:grpSpPr>
        <p:sp>
          <p:nvSpPr>
            <p:cNvPr id="9" name="矩形 8"/>
            <p:cNvSpPr/>
            <p:nvPr/>
          </p:nvSpPr>
          <p:spPr>
            <a:xfrm rot="2700000">
              <a:off x="5727" y="4099"/>
              <a:ext cx="395" cy="39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 rot="2700000">
              <a:off x="12181" y="4530"/>
              <a:ext cx="1055" cy="1055"/>
            </a:xfrm>
            <a:prstGeom prst="rect">
              <a:avLst/>
            </a:prstGeom>
            <a:noFill/>
            <a:ln w="57150">
              <a:solidFill>
                <a:srgbClr val="5CDBA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2700000">
              <a:off x="11207" y="5128"/>
              <a:ext cx="1055" cy="105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 Box 13"/>
            <p:cNvSpPr txBox="1">
              <a:spLocks noChangeArrowheads="1"/>
            </p:cNvSpPr>
            <p:nvPr/>
          </p:nvSpPr>
          <p:spPr bwMode="auto">
            <a:xfrm>
              <a:off x="5289" y="4521"/>
              <a:ext cx="7422" cy="145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</a:ln>
            <a:effectLst/>
          </p:spPr>
          <p:txBody>
            <a:bodyPr wrap="square" tIns="118800">
              <a:spAutoFit/>
            </a:bodyPr>
            <a:lstStyle/>
            <a:p>
              <a:pPr algn="ctr" eaLnBrk="0" fontAlgn="auto" hangingPunct="0">
                <a:spcAft>
                  <a:spcPts val="0"/>
                </a:spcAft>
                <a:defRPr/>
              </a:pPr>
              <a:r>
                <a:rPr lang="zh-CN" altLang="en-US" sz="3200" b="1" kern="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共性问题集中讲解   </a:t>
              </a:r>
            </a:p>
          </p:txBody>
        </p:sp>
        <p:sp>
          <p:nvSpPr>
            <p:cNvPr id="5" name="矩形 4"/>
            <p:cNvSpPr/>
            <p:nvPr/>
          </p:nvSpPr>
          <p:spPr>
            <a:xfrm rot="2700000">
              <a:off x="4789" y="4594"/>
              <a:ext cx="1219" cy="1219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2700000">
              <a:off x="5589" y="5426"/>
              <a:ext cx="671" cy="671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12344" y="5852"/>
              <a:ext cx="304" cy="304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8E28B-C416-43BC-8FA3-E53E52FF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变量的作用域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8A01A70-6BC8-4E67-87CA-6D98D7C2C31A}"/>
              </a:ext>
            </a:extLst>
          </p:cNvPr>
          <p:cNvSpPr txBox="1">
            <a:spLocks/>
          </p:cNvSpPr>
          <p:nvPr/>
        </p:nvSpPr>
        <p:spPr>
          <a:xfrm>
            <a:off x="771525" y="1346226"/>
            <a:ext cx="8749665" cy="4910138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zh-CN" altLang="en-US" sz="2800" dirty="0"/>
              <a:t>全局变量</a:t>
            </a: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局部变量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6E798656-5C08-4172-A6AC-7804AB9A1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844" y="1372420"/>
            <a:ext cx="7326312" cy="4629622"/>
          </a:xfrm>
          <a:prstGeom prst="roundRect">
            <a:avLst>
              <a:gd name="adj" fmla="val 353"/>
            </a:avLst>
          </a:prstGeom>
          <a:solidFill>
            <a:srgbClr val="E6F6F0"/>
          </a:solidFill>
          <a:ln w="50800" cap="flat" cmpd="sng" algn="ctr">
            <a:solidFill>
              <a:srgbClr val="00C77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&lt;body 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onload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="</a:t>
            </a:r>
            <a:r>
              <a:rPr lang="en-US" altLang="en-US" b="1" dirty="0">
                <a:solidFill>
                  <a:srgbClr val="0E9CDE"/>
                </a:solidFill>
                <a:ea typeface="宋体" charset="-122"/>
              </a:rPr>
              <a:t>second( )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"&gt;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</a:t>
            </a:r>
            <a:r>
              <a:rPr lang="en-US" altLang="en-US" b="1" dirty="0" err="1">
                <a:solidFill>
                  <a:srgbClr val="FF0000"/>
                </a:solidFill>
                <a:ea typeface="宋体" charset="-122"/>
              </a:rPr>
              <a:t>var</a:t>
            </a:r>
            <a:r>
              <a:rPr lang="en-US" altLang="en-US" b="1" dirty="0">
                <a:solidFill>
                  <a:srgbClr val="FF0000"/>
                </a:solidFill>
                <a:ea typeface="宋体" charset="-122"/>
              </a:rPr>
              <a:t> i=20;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function </a:t>
            </a:r>
            <a:r>
              <a:rPr lang="en-US" altLang="en-US" b="1" dirty="0">
                <a:solidFill>
                  <a:srgbClr val="0E9CDE"/>
                </a:solidFill>
                <a:ea typeface="宋体" charset="-122"/>
              </a:rPr>
              <a:t>first( )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{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var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ea typeface="宋体" charset="-122"/>
              </a:rPr>
              <a:t>i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=5;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for(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var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ea typeface="宋体" charset="-122"/>
              </a:rPr>
              <a:t>j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=0;j&lt;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i;j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++){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    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document.write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("&amp;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nbsp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;&amp;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nbsp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;&amp;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nbsp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;&amp;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nbsp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;"+j);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}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}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function </a:t>
            </a:r>
            <a:r>
              <a:rPr lang="en-US" altLang="en-US" b="1" dirty="0">
                <a:solidFill>
                  <a:srgbClr val="0E9CDE"/>
                </a:solidFill>
                <a:ea typeface="宋体" charset="-122"/>
              </a:rPr>
              <a:t>second( )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{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var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t=prompt("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输入一个数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","")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if(t&gt;i)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    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document.write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(t);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else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    </a:t>
            </a:r>
            <a:r>
              <a:rPr lang="en-US" altLang="en-US" b="1" dirty="0" err="1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document.write</a:t>
            </a: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(i);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    first( );</a:t>
            </a:r>
          </a:p>
          <a:p>
            <a:pPr>
              <a:defRPr/>
            </a:pPr>
            <a:r>
              <a:rPr lang="en-US" altLang="en-US" b="1" dirty="0">
                <a:solidFill>
                  <a:schemeClr val="accent5">
                    <a:lumMod val="10000"/>
                  </a:schemeClr>
                </a:solidFill>
                <a:ea typeface="宋体" charset="-122"/>
              </a:rPr>
              <a:t>    }</a:t>
            </a:r>
          </a:p>
          <a:p>
            <a:pPr>
              <a:defRPr/>
            </a:pPr>
            <a:endParaRPr lang="zh-CN" altLang="en-US" b="1" dirty="0">
              <a:solidFill>
                <a:schemeClr val="accent5">
                  <a:lumMod val="10000"/>
                </a:schemeClr>
              </a:solidFill>
              <a:ea typeface="宋体" charset="-122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ABD4BBB2-972F-4EF2-93B7-57D437B82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357" y="1702419"/>
            <a:ext cx="6000750" cy="406400"/>
          </a:xfrm>
          <a:prstGeom prst="roundRect">
            <a:avLst>
              <a:gd name="adj" fmla="val 16667"/>
            </a:avLst>
          </a:prstGeom>
          <a:solidFill>
            <a:srgbClr val="00C77A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/>
          <a:lstStyle/>
          <a:p>
            <a:pPr marL="285750" indent="-285750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在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prompt()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弹出的输入框中输入</a:t>
            </a:r>
            <a:r>
              <a:rPr lang="en-US" altLang="en-US" b="1" kern="0" dirty="0">
                <a:solidFill>
                  <a:schemeClr val="bg1"/>
                </a:solidFill>
                <a:latin typeface="Arial"/>
                <a:ea typeface="黑体"/>
              </a:rPr>
              <a:t>67</a:t>
            </a:r>
            <a:r>
              <a:rPr lang="zh-CN" altLang="en-US" b="1" kern="0" dirty="0">
                <a:solidFill>
                  <a:schemeClr val="bg1"/>
                </a:solidFill>
                <a:latin typeface="Arial"/>
                <a:ea typeface="黑体"/>
              </a:rPr>
              <a:t>，页面输出什么内容？</a:t>
            </a:r>
          </a:p>
        </p:txBody>
      </p:sp>
      <p:pic>
        <p:nvPicPr>
          <p:cNvPr id="11" name="Picture 2" descr="F:\2016年工作\ACCP8.0产品开发\jQuery\案例源码\chapter01\Chapter01截图\图1.35.BMP">
            <a:extLst>
              <a:ext uri="{FF2B5EF4-FFF2-40B4-BE49-F238E27FC236}">
                <a16:creationId xmlns:a16="http://schemas.microsoft.com/office/drawing/2014/main" id="{D0E48743-2A56-4254-87E7-E1FF3D276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20" y="3156455"/>
            <a:ext cx="5528558" cy="291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77">
            <a:extLst>
              <a:ext uri="{FF2B5EF4-FFF2-40B4-BE49-F238E27FC236}">
                <a16:creationId xmlns:a16="http://schemas.microsoft.com/office/drawing/2014/main" id="{22E4CF28-6D92-4565-980D-95AD171BFA09}"/>
              </a:ext>
            </a:extLst>
          </p:cNvPr>
          <p:cNvGrpSpPr/>
          <p:nvPr/>
        </p:nvGrpSpPr>
        <p:grpSpPr bwMode="auto">
          <a:xfrm>
            <a:off x="865889" y="1601234"/>
            <a:ext cx="1547111" cy="417830"/>
            <a:chOff x="2885214" y="5103147"/>
            <a:chExt cx="1546465" cy="417893"/>
          </a:xfrm>
        </p:grpSpPr>
        <p:pic>
          <p:nvPicPr>
            <p:cNvPr id="18" name="Picture 4" descr="E:\设计\06-2018\前端5.0PPT\代码阅读.png代码阅读">
              <a:extLst>
                <a:ext uri="{FF2B5EF4-FFF2-40B4-BE49-F238E27FC236}">
                  <a16:creationId xmlns:a16="http://schemas.microsoft.com/office/drawing/2014/main" id="{4788393F-17A0-46B8-A45B-528B52B7DD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885214" y="5119025"/>
              <a:ext cx="401152" cy="402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9DB21A55-2516-4557-A19B-FD0C09CF3EED}"/>
                </a:ext>
              </a:extLst>
            </p:cNvPr>
            <p:cNvSpPr txBox="1"/>
            <p:nvPr/>
          </p:nvSpPr>
          <p:spPr>
            <a:xfrm>
              <a:off x="3214576" y="5103147"/>
              <a:ext cx="121710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代码阅读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22D860C-DB5B-4FAA-997A-1AFE8A2B22AA}"/>
              </a:ext>
            </a:extLst>
          </p:cNvPr>
          <p:cNvGrpSpPr/>
          <p:nvPr/>
        </p:nvGrpSpPr>
        <p:grpSpPr>
          <a:xfrm>
            <a:off x="3348959" y="6092769"/>
            <a:ext cx="4194143" cy="582930"/>
            <a:chOff x="1488" y="2503"/>
            <a:chExt cx="7272" cy="918"/>
          </a:xfrm>
        </p:grpSpPr>
        <p:sp>
          <p:nvSpPr>
            <p:cNvPr id="21" name="圆角矩形 25">
              <a:extLst>
                <a:ext uri="{FF2B5EF4-FFF2-40B4-BE49-F238E27FC236}">
                  <a16:creationId xmlns:a16="http://schemas.microsoft.com/office/drawing/2014/main" id="{6D613BFA-C295-4E7B-8113-5F76733FA78E}"/>
                </a:ext>
              </a:extLst>
            </p:cNvPr>
            <p:cNvSpPr/>
            <p:nvPr/>
          </p:nvSpPr>
          <p:spPr>
            <a:xfrm>
              <a:off x="1488" y="2503"/>
              <a:ext cx="7272" cy="918"/>
            </a:xfrm>
            <a:prstGeom prst="roundRect">
              <a:avLst/>
            </a:prstGeom>
            <a:noFill/>
            <a:ln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6EBD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C77A"/>
                </a:solidFill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8FB5F6A-3C39-4136-85F8-1BB942B131D8}"/>
                </a:ext>
              </a:extLst>
            </p:cNvPr>
            <p:cNvGrpSpPr/>
            <p:nvPr/>
          </p:nvGrpSpPr>
          <p:grpSpPr>
            <a:xfrm>
              <a:off x="1688" y="2598"/>
              <a:ext cx="7072" cy="737"/>
              <a:chOff x="1688" y="2598"/>
              <a:chExt cx="7072" cy="737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53CD67-4BDD-4315-B273-3AA5C6972FAA}"/>
                  </a:ext>
                </a:extLst>
              </p:cNvPr>
              <p:cNvSpPr txBox="1"/>
              <p:nvPr/>
            </p:nvSpPr>
            <p:spPr>
              <a:xfrm>
                <a:off x="2438" y="2633"/>
                <a:ext cx="6322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演示示例</a:t>
                </a:r>
                <a:r>
                  <a:rPr lang="en-US" altLang="zh-CN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9</a:t>
                </a:r>
                <a:r>
                  <a:rPr lang="zh-CN" altLang="en-US" sz="2000" b="1" spc="300" dirty="0">
                    <a:solidFill>
                      <a:srgbClr val="00C77A"/>
                    </a:solidFill>
                    <a:latin typeface="微软雅黑" pitchFamily="34" charset="-122"/>
                    <a:ea typeface="微软雅黑" pitchFamily="34" charset="-122"/>
                  </a:rPr>
                  <a:t>：变量的作用域</a:t>
                </a:r>
                <a:endParaRPr lang="en-US" altLang="zh-CN" sz="2000" b="1" spc="300" dirty="0">
                  <a:solidFill>
                    <a:srgbClr val="00C77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4" name="组合 67">
                <a:extLst>
                  <a:ext uri="{FF2B5EF4-FFF2-40B4-BE49-F238E27FC236}">
                    <a16:creationId xmlns:a16="http://schemas.microsoft.com/office/drawing/2014/main" id="{C1531E1C-34C1-47DD-9B5A-8E1202C06123}"/>
                  </a:ext>
                </a:extLst>
              </p:cNvPr>
              <p:cNvGrpSpPr/>
              <p:nvPr/>
            </p:nvGrpSpPr>
            <p:grpSpPr bwMode="auto">
              <a:xfrm>
                <a:off x="1688" y="2598"/>
                <a:ext cx="1134" cy="737"/>
                <a:chOff x="6071563" y="1124092"/>
                <a:chExt cx="720153" cy="467999"/>
              </a:xfrm>
            </p:grpSpPr>
            <p:pic>
              <p:nvPicPr>
                <p:cNvPr id="25" name="Picture 13" descr="E:\设计\06-2018\前端5.0PPT\辅导.png辅导">
                  <a:extLst>
                    <a:ext uri="{FF2B5EF4-FFF2-40B4-BE49-F238E27FC236}">
                      <a16:creationId xmlns:a16="http://schemas.microsoft.com/office/drawing/2014/main" id="{7809DF63-AC8D-4A7B-806F-1D75E3DA06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6071563" y="1124092"/>
                  <a:ext cx="468036" cy="467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" name="TextBox 53">
                  <a:extLst>
                    <a:ext uri="{FF2B5EF4-FFF2-40B4-BE49-F238E27FC236}">
                      <a16:creationId xmlns:a16="http://schemas.microsoft.com/office/drawing/2014/main" id="{E39A7AFF-159E-4B52-8525-BE024716DC1A}"/>
                    </a:ext>
                  </a:extLst>
                </p:cNvPr>
                <p:cNvSpPr txBox="1"/>
                <p:nvPr/>
              </p:nvSpPr>
              <p:spPr>
                <a:xfrm>
                  <a:off x="6481809" y="1172194"/>
                  <a:ext cx="309907" cy="398783"/>
                </a:xfrm>
                <a:prstGeom prst="rect">
                  <a:avLst/>
                </a:prstGeom>
                <a:noFill/>
                <a:effectLst>
                  <a:outerShdw blurRad="25400" dist="127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spAutoFit/>
                </a:bodyPr>
                <a:lstStyle/>
                <a:p>
                  <a:pPr>
                    <a:defRPr/>
                  </a:pPr>
                  <a:endPara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3001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0EA03-ADD0-43AC-A39A-F266D085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事件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67DFB0BD-058C-479B-804E-747C7CFC3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1609625"/>
              </p:ext>
            </p:extLst>
          </p:nvPr>
        </p:nvGraphicFramePr>
        <p:xfrm>
          <a:off x="2279576" y="1628800"/>
          <a:ext cx="7645400" cy="3942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3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23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+mn-lt"/>
                          <a:ea typeface="+mn-ea"/>
                        </a:rPr>
                        <a:t>名称</a:t>
                      </a:r>
                    </a:p>
                  </a:txBody>
                  <a:tcPr anchor="ctr">
                    <a:solidFill>
                      <a:srgbClr val="00C7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+mn-lt"/>
                          <a:ea typeface="+mn-ea"/>
                        </a:rPr>
                        <a:t>说明</a:t>
                      </a:r>
                    </a:p>
                  </a:txBody>
                  <a:tcPr anchor="ctr">
                    <a:solidFill>
                      <a:srgbClr val="00C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2400" kern="105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onload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zh-CN" sz="2400" kern="10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一个页面或一幅图像完成加载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2400" kern="105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onlick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zh-CN" sz="2400" kern="10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鼠标单击某个对象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2400" kern="105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onmouseover</a:t>
                      </a:r>
                      <a:endParaRPr lang="zh-CN" sz="2400" kern="105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zh-CN" sz="2400" kern="10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鼠标指导移到某元素上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2400" kern="105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onkeydown</a:t>
                      </a:r>
                      <a:endParaRPr lang="zh-CN" sz="2400" kern="105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zh-CN" sz="2400" kern="10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某个键盘按键被按下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2400" kern="105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onchange</a:t>
                      </a:r>
                      <a:endParaRPr lang="zh-CN" sz="2400" kern="105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zh-CN" sz="2400" kern="10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域的内容被改变</a:t>
                      </a:r>
                      <a:endParaRPr lang="zh-CN" sz="2400" kern="105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807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0A2F2-DD00-45B5-B001-1104ADE5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学员操作</a:t>
            </a:r>
            <a:r>
              <a:rPr lang="en-US" altLang="zh-CN" dirty="0"/>
              <a:t>—</a:t>
            </a:r>
            <a:r>
              <a:rPr lang="zh-CN" altLang="en-US" dirty="0"/>
              <a:t>统计考试科目的成绩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BF331F6-48E1-4288-B50D-FBC1F52128F7}"/>
              </a:ext>
            </a:extLst>
          </p:cNvPr>
          <p:cNvSpPr txBox="1">
            <a:spLocks/>
          </p:cNvSpPr>
          <p:nvPr/>
        </p:nvSpPr>
        <p:spPr>
          <a:xfrm>
            <a:off x="885190" y="1311910"/>
            <a:ext cx="11184890" cy="5134456"/>
          </a:xfrm>
          <a:prstGeom prst="rect">
            <a:avLst/>
          </a:prstGeom>
          <a:noFill/>
          <a:ln w="9525">
            <a:noFill/>
          </a:ln>
        </p:spPr>
        <p:txBody>
          <a:bodyPr lIns="115214" tIns="57607" rIns="115214" bIns="57607"/>
          <a:lstStyle>
            <a:lvl1pPr marL="609600" indent="-609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"/>
              <a:defRPr sz="317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1066800" lvl="1" indent="-4572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90000"/>
              <a:buFont typeface="Wingdings" panose="05000000000000000000" charset="0"/>
              <a:buChar char=""/>
              <a:defRPr sz="29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2pPr>
            <a:lvl3pPr marL="1600200" lvl="2" indent="-381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SzPct val="85000"/>
              <a:buFont typeface="Wingdings" panose="05000000000000000000" charset="0"/>
              <a:buChar char="q"/>
              <a:defRPr sz="2645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3pPr>
            <a:lvl4pPr marL="2209800" lvl="3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D59B"/>
              </a:buClr>
              <a:buFont typeface="Wingdings" panose="05000000000000000000" charset="0"/>
              <a:buChar char="q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4pPr>
            <a:lvl5pPr marL="2743200" lvl="4" indent="-304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0C101"/>
              </a:buClr>
              <a:buFont typeface="Wingdings" panose="05000000000000000000" pitchFamily="2" charset="2"/>
              <a:buChar char="n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5pPr>
            <a:lvl6pPr marL="3352165" lvl="5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3961765" lvl="6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4571365" lvl="7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5180965" lvl="8" indent="-304800" algn="l" defTabSz="1218565" eaLnBrk="1" fontAlgn="base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115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zh-CN" altLang="en-US" sz="2800" dirty="0"/>
              <a:t>需求说明</a:t>
            </a:r>
            <a:endParaRPr lang="en-US" altLang="zh-CN" sz="2800" dirty="0"/>
          </a:p>
          <a:p>
            <a:pPr lvl="1">
              <a:lnSpc>
                <a:spcPct val="100000"/>
              </a:lnSpc>
              <a:defRPr/>
            </a:pPr>
            <a:r>
              <a:rPr lang="zh-CN" altLang="en-US" sz="2600" dirty="0"/>
              <a:t>使用</a:t>
            </a:r>
            <a:r>
              <a:rPr lang="en-US" altLang="zh-CN" sz="2600" dirty="0"/>
              <a:t>prompt()</a:t>
            </a:r>
            <a:r>
              <a:rPr lang="zh-CN" altLang="en-US" sz="2600" dirty="0"/>
              <a:t>方法输入考试科目的数量，要求数量必须是非零、非负数的数值类型，否则给出相应提示并退出程序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600" dirty="0"/>
              <a:t>根据考试科目的数量，使用</a:t>
            </a:r>
            <a:r>
              <a:rPr lang="en-US" altLang="zh-CN" sz="2600" dirty="0"/>
              <a:t>prompt()</a:t>
            </a:r>
            <a:r>
              <a:rPr lang="zh-CN" altLang="en-US" sz="2600" dirty="0"/>
              <a:t>方法输入各科的考试成绩并累加，要求成绩必须是非负数的数值类型，否则给出相应提示并退出程序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600" dirty="0"/>
              <a:t>如果各项输入正确，则弹出总成绩</a:t>
            </a:r>
          </a:p>
        </p:txBody>
      </p:sp>
      <p:grpSp>
        <p:nvGrpSpPr>
          <p:cNvPr id="9" name="组合 19">
            <a:extLst>
              <a:ext uri="{FF2B5EF4-FFF2-40B4-BE49-F238E27FC236}">
                <a16:creationId xmlns:a16="http://schemas.microsoft.com/office/drawing/2014/main" id="{143B0753-0245-4555-9072-95848FF49059}"/>
              </a:ext>
            </a:extLst>
          </p:cNvPr>
          <p:cNvGrpSpPr>
            <a:grpSpLocks/>
          </p:cNvGrpSpPr>
          <p:nvPr/>
        </p:nvGrpSpPr>
        <p:grpSpPr bwMode="auto">
          <a:xfrm>
            <a:off x="5634446" y="6242510"/>
            <a:ext cx="2786062" cy="428625"/>
            <a:chOff x="3714744" y="5143512"/>
            <a:chExt cx="2786082" cy="428628"/>
          </a:xfrm>
          <a:solidFill>
            <a:srgbClr val="00C77A"/>
          </a:solidFill>
        </p:grpSpPr>
        <p:sp>
          <p:nvSpPr>
            <p:cNvPr id="10" name="圆角矩形 16">
              <a:extLst>
                <a:ext uri="{FF2B5EF4-FFF2-40B4-BE49-F238E27FC236}">
                  <a16:creationId xmlns:a16="http://schemas.microsoft.com/office/drawing/2014/main" id="{B3806A29-5DCB-42F5-9BBD-970D994E9547}"/>
                </a:ext>
              </a:extLst>
            </p:cNvPr>
            <p:cNvSpPr/>
            <p:nvPr/>
          </p:nvSpPr>
          <p:spPr bwMode="auto">
            <a:xfrm>
              <a:off x="3714744" y="5143512"/>
              <a:ext cx="2786082" cy="428628"/>
            </a:xfrm>
            <a:prstGeom prst="roundRect">
              <a:avLst/>
            </a:prstGeom>
            <a:grpFill/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7898F8F2-CAAB-4A46-B44D-E7194BA198BF}"/>
                </a:ext>
              </a:extLst>
            </p:cNvPr>
            <p:cNvSpPr txBox="1"/>
            <p:nvPr/>
          </p:nvSpPr>
          <p:spPr bwMode="auto">
            <a:xfrm>
              <a:off x="3962396" y="5187962"/>
              <a:ext cx="2220928" cy="338140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完成时间：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分钟</a:t>
              </a:r>
            </a:p>
          </p:txBody>
        </p:sp>
      </p:grpSp>
      <p:pic>
        <p:nvPicPr>
          <p:cNvPr id="12" name="Picture 2" descr="F:\2016年工作\ACCP8.0产品开发\jQuery\案例源码\chapter01\Chapter01截图\图1.37.BMP">
            <a:extLst>
              <a:ext uri="{FF2B5EF4-FFF2-40B4-BE49-F238E27FC236}">
                <a16:creationId xmlns:a16="http://schemas.microsoft.com/office/drawing/2014/main" id="{3F0D1ABB-B4E8-4D7E-81C6-2E2A7CA4C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151" y="4829069"/>
            <a:ext cx="4260295" cy="1792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F:\2016年工作\ACCP8.0产品开发\jQuery\案例源码\chapter01\Chapter01截图\图1.40.BMP">
            <a:extLst>
              <a:ext uri="{FF2B5EF4-FFF2-40B4-BE49-F238E27FC236}">
                <a16:creationId xmlns:a16="http://schemas.microsoft.com/office/drawing/2014/main" id="{BD9A84B5-01DF-42F8-8046-32BC7697F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186" y="4058582"/>
            <a:ext cx="4220894" cy="166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组合 66">
            <a:extLst>
              <a:ext uri="{FF2B5EF4-FFF2-40B4-BE49-F238E27FC236}">
                <a16:creationId xmlns:a16="http://schemas.microsoft.com/office/drawing/2014/main" id="{8E2436AF-83F9-4954-8A7E-34CD422D6C84}"/>
              </a:ext>
            </a:extLst>
          </p:cNvPr>
          <p:cNvGrpSpPr/>
          <p:nvPr/>
        </p:nvGrpSpPr>
        <p:grpSpPr bwMode="auto">
          <a:xfrm>
            <a:off x="0" y="1527810"/>
            <a:ext cx="1077050" cy="405765"/>
            <a:chOff x="3637818" y="1193279"/>
            <a:chExt cx="1077058" cy="405715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73920AB5-50EA-4BB6-83AA-22D9A2860E1A}"/>
                </a:ext>
              </a:extLst>
            </p:cNvPr>
            <p:cNvSpPr txBox="1"/>
            <p:nvPr/>
          </p:nvSpPr>
          <p:spPr>
            <a:xfrm>
              <a:off x="4014784" y="1196137"/>
              <a:ext cx="700092" cy="400001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练习</a:t>
              </a:r>
            </a:p>
          </p:txBody>
        </p:sp>
        <p:pic>
          <p:nvPicPr>
            <p:cNvPr id="16" name="Picture 2" descr="E:\设计\06-2018\前端5.0PPT\练习.png练习">
              <a:extLst>
                <a:ext uri="{FF2B5EF4-FFF2-40B4-BE49-F238E27FC236}">
                  <a16:creationId xmlns:a16="http://schemas.microsoft.com/office/drawing/2014/main" id="{EB74D6C1-8DBF-4736-84FB-CDC5151448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37818" y="1193279"/>
              <a:ext cx="406403" cy="405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3311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常见问题及解决办法</a:t>
            </a:r>
          </a:p>
          <a:p>
            <a:r>
              <a:rPr lang="zh-CN" altLang="en-US"/>
              <a:t>代码规范问题</a:t>
            </a:r>
          </a:p>
          <a:p>
            <a:r>
              <a:rPr lang="zh-CN" altLang="en-US"/>
              <a:t>调试技巧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t>共性问题集中讲解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300730" y="4230370"/>
            <a:ext cx="5363845" cy="1323340"/>
            <a:chOff x="4789" y="4099"/>
            <a:chExt cx="8447" cy="2084"/>
          </a:xfrm>
        </p:grpSpPr>
        <p:sp>
          <p:nvSpPr>
            <p:cNvPr id="9" name="矩形 8"/>
            <p:cNvSpPr/>
            <p:nvPr/>
          </p:nvSpPr>
          <p:spPr>
            <a:xfrm rot="2700000">
              <a:off x="5727" y="4099"/>
              <a:ext cx="395" cy="39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 rot="2700000">
              <a:off x="12181" y="4530"/>
              <a:ext cx="1055" cy="1055"/>
            </a:xfrm>
            <a:prstGeom prst="rect">
              <a:avLst/>
            </a:prstGeom>
            <a:noFill/>
            <a:ln w="57150">
              <a:solidFill>
                <a:srgbClr val="5CDBA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2700000">
              <a:off x="11207" y="5128"/>
              <a:ext cx="1055" cy="1055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 Box 13"/>
            <p:cNvSpPr txBox="1">
              <a:spLocks noChangeArrowheads="1"/>
            </p:cNvSpPr>
            <p:nvPr/>
          </p:nvSpPr>
          <p:spPr bwMode="auto">
            <a:xfrm>
              <a:off x="5289" y="4521"/>
              <a:ext cx="7422" cy="145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</a:ln>
            <a:effectLst/>
          </p:spPr>
          <p:txBody>
            <a:bodyPr wrap="square" tIns="118800">
              <a:spAutoFit/>
            </a:bodyPr>
            <a:lstStyle/>
            <a:p>
              <a:pPr algn="ctr" eaLnBrk="0" fontAlgn="auto" hangingPunct="0">
                <a:spcAft>
                  <a:spcPts val="0"/>
                </a:spcAft>
                <a:defRPr/>
              </a:pPr>
              <a:r>
                <a:rPr lang="zh-CN" altLang="en-US" sz="3200" b="1" kern="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共性问题集中讲解   </a:t>
              </a:r>
            </a:p>
          </p:txBody>
        </p:sp>
        <p:sp>
          <p:nvSpPr>
            <p:cNvPr id="5" name="矩形 4"/>
            <p:cNvSpPr/>
            <p:nvPr/>
          </p:nvSpPr>
          <p:spPr>
            <a:xfrm rot="2700000">
              <a:off x="4789" y="4594"/>
              <a:ext cx="1219" cy="1219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2700000">
              <a:off x="5589" y="5426"/>
              <a:ext cx="671" cy="671"/>
            </a:xfrm>
            <a:prstGeom prst="rect">
              <a:avLst/>
            </a:prstGeom>
            <a:noFill/>
            <a:ln w="57150">
              <a:solidFill>
                <a:srgbClr val="00C77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CDBAA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12344" y="5852"/>
              <a:ext cx="304" cy="304"/>
            </a:xfrm>
            <a:prstGeom prst="rect">
              <a:avLst/>
            </a:prstGeom>
            <a:solidFill>
              <a:srgbClr val="5CDBAA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EAF6E03-8907-4B1E-A0DA-70D05DCD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2478" y="1340769"/>
            <a:ext cx="6299987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000" b="1" dirty="0">
                <a:ea typeface="微软雅黑" pitchFamily="34" charset="-122"/>
                <a:cs typeface="Arial" charset="0"/>
              </a:rPr>
              <a:t> </a:t>
            </a:r>
            <a:r>
              <a:rPr lang="en-US" altLang="zh-CN" sz="2000" b="1" dirty="0">
                <a:ea typeface="微软雅黑" pitchFamily="34" charset="-122"/>
                <a:cs typeface="Arial" charset="0"/>
              </a:rPr>
              <a:t>JavaScript</a:t>
            </a:r>
            <a:r>
              <a:rPr lang="zh-CN" altLang="en-US" sz="2000" b="1" dirty="0">
                <a:ea typeface="微软雅黑" pitchFamily="34" charset="-122"/>
                <a:cs typeface="Arial" charset="0"/>
              </a:rPr>
              <a:t>的组成和基本结构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JavaScript</a:t>
            </a:r>
            <a:r>
              <a:rPr lang="zh-CN" altLang="en-US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基本结构和在网页中引入</a:t>
            </a:r>
            <a:r>
              <a:rPr lang="en-US" altLang="zh-CN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JavaScript</a:t>
            </a:r>
          </a:p>
          <a:p>
            <a:pPr eaLnBrk="1" hangingPunct="1">
              <a:lnSpc>
                <a:spcPct val="200000"/>
              </a:lnSpc>
            </a:pPr>
            <a:endParaRPr lang="en-US" altLang="zh-CN" sz="2000" dirty="0"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000" b="1" dirty="0">
                <a:ea typeface="微软雅黑" pitchFamily="34" charset="-122"/>
                <a:cs typeface="Arial" charset="0"/>
              </a:rPr>
              <a:t>核心语法</a:t>
            </a:r>
            <a:endParaRPr lang="en-US" altLang="zh-CN" sz="2000" b="1" dirty="0"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ct val="200000"/>
              </a:lnSpc>
            </a:pPr>
            <a:endParaRPr lang="en-US" altLang="zh-CN" sz="2000" b="1" dirty="0"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程序调试：</a:t>
            </a:r>
            <a:r>
              <a:rPr lang="en-US" altLang="zh-CN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Chrome</a:t>
            </a:r>
            <a:r>
              <a:rPr lang="zh-CN" altLang="en-US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开发工具和</a:t>
            </a:r>
            <a:r>
              <a:rPr lang="en-US" altLang="zh-CN" sz="20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alert</a:t>
            </a:r>
          </a:p>
          <a:p>
            <a:pPr eaLnBrk="1" hangingPunct="1">
              <a:lnSpc>
                <a:spcPct val="300000"/>
              </a:lnSpc>
            </a:pPr>
            <a:r>
              <a:rPr lang="zh-CN" altLang="en-US" sz="2000" b="1" dirty="0">
                <a:ea typeface="微软雅黑" pitchFamily="34" charset="-122"/>
                <a:cs typeface="Arial" charset="0"/>
              </a:rPr>
              <a:t>函数</a:t>
            </a:r>
            <a:endParaRPr lang="en-US" altLang="zh-CN" sz="2000" b="1" dirty="0">
              <a:ea typeface="微软雅黑" pitchFamily="34" charset="-122"/>
              <a:cs typeface="Arial" charset="0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C1500380-DE7B-4EBD-9500-A7C4A5B0F400}"/>
              </a:ext>
            </a:extLst>
          </p:cNvPr>
          <p:cNvSpPr>
            <a:spLocks/>
          </p:cNvSpPr>
          <p:nvPr/>
        </p:nvSpPr>
        <p:spPr bwMode="auto">
          <a:xfrm>
            <a:off x="5214218" y="2780928"/>
            <a:ext cx="697833" cy="1525478"/>
          </a:xfrm>
          <a:prstGeom prst="leftBrace">
            <a:avLst>
              <a:gd name="adj1" fmla="val 61885"/>
              <a:gd name="adj2" fmla="val 50000"/>
            </a:avLst>
          </a:prstGeom>
          <a:noFill/>
          <a:ln w="28575">
            <a:solidFill>
              <a:srgbClr val="00C77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ea typeface="黑体" pitchFamily="49" charset="-122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5FF4697E-46EA-41AC-932E-09A4ED79B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810" y="2636912"/>
            <a:ext cx="233532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变量的声明和赋值</a:t>
            </a:r>
            <a:endParaRPr lang="en-US" altLang="zh-CN" sz="1600" b="1" dirty="0">
              <a:solidFill>
                <a:srgbClr val="FF0000"/>
              </a:solidFill>
              <a:ea typeface="微软雅黑" pitchFamily="34" charset="-122"/>
              <a:cs typeface="Arial" charset="0"/>
            </a:endParaRPr>
          </a:p>
          <a:p>
            <a:pPr eaLnBrk="1" hangingPunct="1"/>
            <a:r>
              <a:rPr lang="zh-CN" altLang="en-US" sz="16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数据类型</a:t>
            </a:r>
            <a:endParaRPr lang="en-US" altLang="zh-CN" sz="1600" b="1" dirty="0">
              <a:solidFill>
                <a:srgbClr val="FF0000"/>
              </a:solidFill>
              <a:ea typeface="微软雅黑" pitchFamily="34" charset="-122"/>
              <a:cs typeface="Arial" charset="0"/>
            </a:endParaRPr>
          </a:p>
          <a:p>
            <a:pPr eaLnBrk="1" hangingPunct="1"/>
            <a:r>
              <a:rPr lang="zh-CN" altLang="en-US" sz="16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数组</a:t>
            </a:r>
            <a:endParaRPr lang="en-US" altLang="zh-CN" sz="1600" b="1" dirty="0">
              <a:solidFill>
                <a:srgbClr val="FF0000"/>
              </a:solidFill>
              <a:ea typeface="微软雅黑" pitchFamily="34" charset="-122"/>
              <a:cs typeface="Arial" charset="0"/>
            </a:endParaRPr>
          </a:p>
          <a:p>
            <a:pPr eaLnBrk="1" hangingPunct="1"/>
            <a:r>
              <a:rPr lang="zh-CN" altLang="en-US" sz="16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运算符</a:t>
            </a:r>
            <a:endParaRPr lang="en-US" altLang="zh-CN" sz="1600" b="1" dirty="0">
              <a:solidFill>
                <a:srgbClr val="FF0000"/>
              </a:solidFill>
              <a:ea typeface="微软雅黑" pitchFamily="34" charset="-122"/>
              <a:cs typeface="Arial" charset="0"/>
            </a:endParaRPr>
          </a:p>
          <a:p>
            <a:pPr eaLnBrk="1" hangingPunct="1"/>
            <a:r>
              <a:rPr lang="zh-CN" altLang="en-US" sz="16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逻辑控制语句</a:t>
            </a:r>
            <a:endParaRPr lang="en-US" altLang="zh-CN" sz="1600" b="1" dirty="0">
              <a:solidFill>
                <a:srgbClr val="FF0000"/>
              </a:solidFill>
              <a:ea typeface="微软雅黑" pitchFamily="34" charset="-122"/>
              <a:cs typeface="Arial" charset="0"/>
            </a:endParaRPr>
          </a:p>
          <a:p>
            <a:pPr eaLnBrk="1" hangingPunct="1"/>
            <a:r>
              <a:rPr lang="zh-CN" altLang="en-US" sz="1600" b="1" dirty="0">
                <a:ea typeface="微软雅黑" pitchFamily="34" charset="-122"/>
                <a:cs typeface="Arial" charset="0"/>
              </a:rPr>
              <a:t>注释</a:t>
            </a:r>
            <a:endParaRPr lang="en-US" altLang="zh-CN" sz="1600" b="1" dirty="0">
              <a:ea typeface="微软雅黑" pitchFamily="34" charset="-122"/>
              <a:cs typeface="Arial" charset="0"/>
            </a:endParaRPr>
          </a:p>
          <a:p>
            <a:pPr eaLnBrk="1" hangingPunct="1"/>
            <a:r>
              <a:rPr lang="zh-CN" altLang="en-US" sz="1600" b="1" dirty="0">
                <a:ea typeface="微软雅黑" pitchFamily="34" charset="-122"/>
                <a:cs typeface="Arial" charset="0"/>
              </a:rPr>
              <a:t>语法约定</a:t>
            </a:r>
            <a:endParaRPr lang="en-US" altLang="zh-CN" sz="1600" b="1" dirty="0">
              <a:ea typeface="微软雅黑" pitchFamily="34" charset="-122"/>
              <a:cs typeface="Arial" charset="0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B7BB6EB4-00D4-4772-A102-6EF17D97B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894" y="4941168"/>
            <a:ext cx="2027237" cy="1342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ts val="2500"/>
              </a:lnSpc>
            </a:pPr>
            <a:r>
              <a:rPr lang="zh-CN" altLang="en-US" sz="1600" b="1" dirty="0">
                <a:ea typeface="微软雅黑" pitchFamily="34" charset="-122"/>
                <a:cs typeface="Arial" charset="0"/>
              </a:rPr>
              <a:t>常用系统函数</a:t>
            </a:r>
            <a:endParaRPr lang="en-US" altLang="zh-CN" sz="1600" b="1" dirty="0"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zh-CN" altLang="en-US" sz="1600" b="1" dirty="0">
                <a:solidFill>
                  <a:srgbClr val="FF0000"/>
                </a:solidFill>
                <a:ea typeface="微软雅黑" pitchFamily="34" charset="-122"/>
                <a:cs typeface="Arial" charset="0"/>
              </a:rPr>
              <a:t>自定义函数</a:t>
            </a:r>
            <a:endParaRPr lang="en-US" altLang="zh-CN" sz="1600" b="1" dirty="0">
              <a:solidFill>
                <a:srgbClr val="FF0000"/>
              </a:solidFill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zh-CN" altLang="en-US" sz="1600" b="1" dirty="0">
                <a:ea typeface="微软雅黑" pitchFamily="34" charset="-122"/>
                <a:cs typeface="Arial" charset="0"/>
              </a:rPr>
              <a:t>变量的作用域</a:t>
            </a:r>
            <a:endParaRPr lang="en-US" altLang="zh-CN" sz="1600" b="1" dirty="0"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zh-CN" altLang="en-US" sz="1600" b="1" dirty="0">
                <a:ea typeface="微软雅黑" pitchFamily="34" charset="-122"/>
                <a:cs typeface="Arial" charset="0"/>
              </a:rPr>
              <a:t>事件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1100263C-D697-4777-A6FB-30B08C5BEE0D}"/>
              </a:ext>
            </a:extLst>
          </p:cNvPr>
          <p:cNvSpPr>
            <a:spLocks/>
          </p:cNvSpPr>
          <p:nvPr/>
        </p:nvSpPr>
        <p:spPr bwMode="auto">
          <a:xfrm>
            <a:off x="4655840" y="5085184"/>
            <a:ext cx="288032" cy="1111628"/>
          </a:xfrm>
          <a:prstGeom prst="leftBrace">
            <a:avLst>
              <a:gd name="adj1" fmla="val 62177"/>
              <a:gd name="adj2" fmla="val 50000"/>
            </a:avLst>
          </a:prstGeom>
          <a:noFill/>
          <a:ln w="28575">
            <a:solidFill>
              <a:srgbClr val="00C77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ea typeface="黑体" pitchFamily="49" charset="-122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A80DA811-5B8D-4DDB-9253-E6E48128D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3409941"/>
            <a:ext cx="21494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/>
              <a:t>初识</a:t>
            </a:r>
            <a:r>
              <a:rPr lang="en-US" altLang="zh-CN" sz="2000" b="1" dirty="0"/>
              <a:t>JavaScript</a:t>
            </a:r>
            <a:endParaRPr lang="en-US" altLang="zh-CN" sz="2000" b="1" dirty="0">
              <a:ea typeface="微软雅黑" pitchFamily="34" charset="-122"/>
              <a:cs typeface="Arial" charset="0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C89F3210-BA3B-44ED-9C82-BA023437788D}"/>
              </a:ext>
            </a:extLst>
          </p:cNvPr>
          <p:cNvSpPr>
            <a:spLocks/>
          </p:cNvSpPr>
          <p:nvPr/>
        </p:nvSpPr>
        <p:spPr bwMode="auto">
          <a:xfrm>
            <a:off x="3709882" y="1620838"/>
            <a:ext cx="357187" cy="3968402"/>
          </a:xfrm>
          <a:prstGeom prst="leftBrace">
            <a:avLst>
              <a:gd name="adj1" fmla="val 62112"/>
              <a:gd name="adj2" fmla="val 50000"/>
            </a:avLst>
          </a:prstGeom>
          <a:solidFill>
            <a:schemeClr val="bg1"/>
          </a:solidFill>
          <a:ln w="28575">
            <a:solidFill>
              <a:srgbClr val="00C77A"/>
            </a:solidFill>
            <a:round/>
            <a:headEnd/>
            <a:tailEnd/>
          </a:ln>
          <a:extLst/>
        </p:spPr>
        <p:txBody>
          <a:bodyPr/>
          <a:lstStyle/>
          <a:p>
            <a:pPr algn="ctr"/>
            <a:endParaRPr lang="zh-CN" altLang="en-US" dirty="0">
              <a:ea typeface="黑体" pitchFamily="49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28852110-463C-4748-8399-4DC840327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276016"/>
            <a:ext cx="9518680" cy="942340"/>
          </a:xfrm>
        </p:spPr>
        <p:txBody>
          <a:bodyPr/>
          <a:lstStyle/>
          <a:p>
            <a:r>
              <a:rPr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652311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课后作业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教员备课时根据班级情况在此添加内容，应区分必做、选做内容，以满足不同层次学员的需求</a:t>
            </a: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pPr lvl="0"/>
            <a:r>
              <a:rPr lang="zh-CN" altLang="en-US" dirty="0"/>
              <a:t>预习作业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教员备课时根据班级情况在此添加预习内容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1"/>
          <p:cNvGrpSpPr/>
          <p:nvPr/>
        </p:nvGrpSpPr>
        <p:grpSpPr>
          <a:xfrm>
            <a:off x="1938338" y="1322388"/>
            <a:ext cx="8239125" cy="4249737"/>
            <a:chOff x="5131" y="3475"/>
            <a:chExt cx="9508" cy="4905"/>
          </a:xfrm>
        </p:grpSpPr>
        <p:sp>
          <p:nvSpPr>
            <p:cNvPr id="3" name="文本框 4"/>
            <p:cNvSpPr txBox="1"/>
            <p:nvPr/>
          </p:nvSpPr>
          <p:spPr>
            <a:xfrm>
              <a:off x="5410" y="7920"/>
              <a:ext cx="3850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A0C10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扫一扫 关注课工场</a:t>
              </a:r>
            </a:p>
          </p:txBody>
        </p:sp>
        <p:sp>
          <p:nvSpPr>
            <p:cNvPr id="4" name="文本框 5"/>
            <p:cNvSpPr txBox="1"/>
            <p:nvPr/>
          </p:nvSpPr>
          <p:spPr>
            <a:xfrm>
              <a:off x="10642" y="7920"/>
              <a:ext cx="3848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A0C10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扫一扫 下载</a:t>
              </a:r>
              <a:r>
                <a:rPr lang="en-US" altLang="zh-CN" sz="2000" b="1" dirty="0">
                  <a:solidFill>
                    <a:srgbClr val="A0C10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</a:p>
          </p:txBody>
        </p:sp>
        <p:pic>
          <p:nvPicPr>
            <p:cNvPr id="5" name="图片 2" descr="课工场最新APP二维码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9" y="3475"/>
              <a:ext cx="4330" cy="43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" name="图片 1" descr="课工场最新微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1" y="3475"/>
              <a:ext cx="4332" cy="433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_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2342</Words>
  <Application>Microsoft Office PowerPoint</Application>
  <PresentationFormat>宽屏</PresentationFormat>
  <Paragraphs>472</Paragraphs>
  <Slides>43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Office 主题_2</vt:lpstr>
      <vt:lpstr>Image</vt:lpstr>
      <vt:lpstr>第一章 初识JavaScript</vt:lpstr>
      <vt:lpstr>本课目标</vt:lpstr>
      <vt:lpstr>课程结构图</vt:lpstr>
      <vt:lpstr>本章任务</vt:lpstr>
      <vt:lpstr>本章目标</vt:lpstr>
      <vt:lpstr>为什么要学JavaScript</vt:lpstr>
      <vt:lpstr>PowerPoint 演示文稿</vt:lpstr>
      <vt:lpstr>JavaScript的基本结构</vt:lpstr>
      <vt:lpstr>JavaScript的应用</vt:lpstr>
      <vt:lpstr>JavaScript的执行原理</vt:lpstr>
      <vt:lpstr>网页中引用JavaScript的方式</vt:lpstr>
      <vt:lpstr>JavaScript核心语法</vt:lpstr>
      <vt:lpstr>核心语法—变量</vt:lpstr>
      <vt:lpstr>核心语法—数据类型</vt:lpstr>
      <vt:lpstr>核心语法— typeof运算符</vt:lpstr>
      <vt:lpstr>核心语法—String对象</vt:lpstr>
      <vt:lpstr>核心语法—数组2-1</vt:lpstr>
      <vt:lpstr>核心语法—数组2-2</vt:lpstr>
      <vt:lpstr>PowerPoint 演示文稿</vt:lpstr>
      <vt:lpstr>核心语法—逻辑控制语句</vt:lpstr>
      <vt:lpstr>核心语法—循环中断</vt:lpstr>
      <vt:lpstr>核心语法—注释</vt:lpstr>
      <vt:lpstr>核心语法—常用的输入/输出</vt:lpstr>
      <vt:lpstr>核心语法—语法约定</vt:lpstr>
      <vt:lpstr>学员操作—统计字符串的个数</vt:lpstr>
      <vt:lpstr>共性问题集中讲解</vt:lpstr>
      <vt:lpstr>程序调试</vt:lpstr>
      <vt:lpstr>学员操作—调试程序</vt:lpstr>
      <vt:lpstr>共性问题集中讲解</vt:lpstr>
      <vt:lpstr>什么是函数</vt:lpstr>
      <vt:lpstr>常用系统函数</vt:lpstr>
      <vt:lpstr>自定义函数</vt:lpstr>
      <vt:lpstr>调用无参函数</vt:lpstr>
      <vt:lpstr>调用有参函数</vt:lpstr>
      <vt:lpstr>学员操作—编写一个四则运算函数</vt:lpstr>
      <vt:lpstr>共性问题集中讲解</vt:lpstr>
      <vt:lpstr>变量的作用域</vt:lpstr>
      <vt:lpstr>事件</vt:lpstr>
      <vt:lpstr>学员操作—统计考试科目的成绩</vt:lpstr>
      <vt:lpstr>共性问题集中讲解</vt:lpstr>
      <vt:lpstr>总结</vt:lpstr>
      <vt:lpstr>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谢伟民</dc:creator>
  <cp:lastModifiedBy>zhzbin</cp:lastModifiedBy>
  <cp:revision>495</cp:revision>
  <dcterms:created xsi:type="dcterms:W3CDTF">2018-02-05T01:07:00Z</dcterms:created>
  <dcterms:modified xsi:type="dcterms:W3CDTF">2018-09-19T02:29:00Z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